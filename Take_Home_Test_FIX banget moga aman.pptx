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3.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4.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5.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16.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70" r:id="rId14"/>
    <p:sldId id="271" r:id="rId15"/>
    <p:sldId id="272" r:id="rId16"/>
    <p:sldId id="273" r:id="rId17"/>
    <p:sldId id="275" r:id="rId18"/>
    <p:sldId id="276" r:id="rId19"/>
    <p:sldId id="277" r:id="rId20"/>
    <p:sldId id="281" r:id="rId21"/>
    <p:sldId id="282"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C5CBAE9-E738-33F8-6C31-06D3A27967BF}">
          <p14:sldIdLst>
            <p14:sldId id="256"/>
            <p14:sldId id="257"/>
          </p14:sldIdLst>
        </p14:section>
        <p14:section name="01 Introduction" id="{6514FC27-B32E-A40A-EAC6-06D3DA6EF1FC}">
          <p14:sldIdLst>
            <p14:sldId id="258"/>
          </p14:sldIdLst>
        </p14:section>
        <p14:section name="02 Overview Project" id="{BC9093A1-9B7D-AF32-4ED5-4B75CE4631F3}">
          <p14:sldIdLst>
            <p14:sldId id="259"/>
          </p14:sldIdLst>
        </p14:section>
        <p14:section name="03 Business Problem" id="{5F028516-2A06-29D2-6D8E-ECE200B6FC06}">
          <p14:sldIdLst>
            <p14:sldId id="260"/>
            <p14:sldId id="261"/>
            <p14:sldId id="262"/>
          </p14:sldIdLst>
        </p14:section>
        <p14:section name="04 Data Preparation" id="{BC6A8D86-DBF3-48C7-483C-C3BA0F9063E1}">
          <p14:sldIdLst>
            <p14:sldId id="263"/>
            <p14:sldId id="264"/>
            <p14:sldId id="267"/>
          </p14:sldIdLst>
        </p14:section>
        <p14:section name="05 Analysis &amp; Insights" id="{69AFD06E-0EF3-AB9A-834B-3B64B4A75AD8}">
          <p14:sldIdLst>
            <p14:sldId id="268"/>
            <p14:sldId id="269"/>
            <p14:sldId id="270"/>
            <p14:sldId id="271"/>
            <p14:sldId id="272"/>
            <p14:sldId id="273"/>
            <p14:sldId id="275"/>
          </p14:sldIdLst>
        </p14:section>
        <p14:section name="06 Dashboard &amp; Recommendations" id="{FDEF16B7-0C14-005A-159F-A44F24BD81D6}">
          <p14:sldIdLst>
            <p14:sldId id="276"/>
            <p14:sldId id="277"/>
          </p14:sldIdLst>
        </p14:section>
        <p14:section name="Closing" id="{2DE40D28-548C-02AA-A383-A353EBA89D70}">
          <p14:sldIdLst>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101" y="19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D1B2E"/>
                </a:solidFill>
                <a:latin typeface="+mn-lt"/>
              </a:defRPr>
            </a:pPr>
            <a:r>
              <a:rPr lang="en-ID" sz="1400" b="1" i="0" u="none" strike="noStrike">
                <a:solidFill>
                  <a:srgbClr val="0D1B2E"/>
                </a:solidFill>
                <a:latin typeface="+mn-lt"/>
              </a:rPr>
              <a:t>Funnel sesi (jumlah sesi dengan view)</a:t>
            </a:r>
          </a:p>
        </c:rich>
      </c:tx>
      <c:overlay val="0"/>
    </c:title>
    <c:autoTitleDeleted val="0"/>
    <c:plotArea>
      <c:layout/>
      <c:barChart>
        <c:barDir val="bar"/>
        <c:grouping val="clustered"/>
        <c:varyColors val="0"/>
        <c:ser>
          <c:idx val="0"/>
          <c:order val="0"/>
          <c:tx>
            <c:strRef>
              <c:f>Sheet1!$B$1</c:f>
              <c:strCache>
                <c:ptCount val="1"/>
                <c:pt idx="0">
                  <c:v>Funnel sesi (jumlah sesi dengan view)</c:v>
                </c:pt>
              </c:strCache>
            </c:strRef>
          </c:tx>
          <c:spPr>
            <a:solidFill>
              <a:srgbClr val="3D6EA5"/>
            </a:solidFill>
            <a:effectLst/>
          </c:spPr>
          <c:invertIfNegative val="0"/>
          <c:dPt>
            <c:idx val="0"/>
            <c:invertIfNegative val="0"/>
            <c:bubble3D val="0"/>
            <c:extLst>
              <c:ext xmlns:c16="http://schemas.microsoft.com/office/drawing/2014/chart" uri="{C3380CC4-5D6E-409C-BE32-E72D297353CC}">
                <c16:uniqueId val="{00000001-6A45-4582-ABFD-F47B4A9881A9}"/>
              </c:ext>
            </c:extLst>
          </c:dPt>
          <c:dPt>
            <c:idx val="1"/>
            <c:invertIfNegative val="0"/>
            <c:bubble3D val="0"/>
            <c:extLst>
              <c:ext xmlns:c16="http://schemas.microsoft.com/office/drawing/2014/chart" uri="{C3380CC4-5D6E-409C-BE32-E72D297353CC}">
                <c16:uniqueId val="{00000003-6A45-4582-ABFD-F47B4A9881A9}"/>
              </c:ext>
            </c:extLst>
          </c:dPt>
          <c:dPt>
            <c:idx val="2"/>
            <c:invertIfNegative val="0"/>
            <c:bubble3D val="0"/>
            <c:spPr>
              <a:solidFill>
                <a:srgbClr val="D9822B"/>
              </a:solidFill>
              <a:effectLst/>
            </c:spPr>
            <c:extLst>
              <c:ext xmlns:c16="http://schemas.microsoft.com/office/drawing/2014/chart" uri="{C3380CC4-5D6E-409C-BE32-E72D297353CC}">
                <c16:uniqueId val="{00000005-6A45-4582-ABFD-F47B4A9881A9}"/>
              </c:ext>
            </c:extLst>
          </c:dPt>
          <c:dLbls>
            <c:numFmt formatCode="#,##0" sourceLinked="0"/>
            <c:spPr>
              <a:noFill/>
              <a:ln>
                <a:noFill/>
              </a:ln>
              <a:effectLst/>
            </c:spPr>
            <c:txPr>
              <a:bodyPr/>
              <a:lstStyle/>
              <a:p>
                <a:pPr>
                  <a:defRPr sz="1200" b="1" i="0" u="none" strike="noStrike">
                    <a:solidFill>
                      <a:srgbClr val="0D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Lihat produk</c:v>
                </c:pt>
                <c:pt idx="1">
                  <c:v>Tambah ke keranjang</c:v>
                </c:pt>
                <c:pt idx="2">
                  <c:v>Beli dari keranjang</c:v>
                </c:pt>
              </c:strCache>
            </c:strRef>
          </c:cat>
          <c:val>
            <c:numRef>
              <c:f>Sheet1!$B$2:$B$4</c:f>
              <c:numCache>
                <c:formatCode>General</c:formatCode>
                <c:ptCount val="3"/>
                <c:pt idx="0">
                  <c:v>269858</c:v>
                </c:pt>
                <c:pt idx="1">
                  <c:v>24952</c:v>
                </c:pt>
                <c:pt idx="2">
                  <c:v>12296</c:v>
                </c:pt>
              </c:numCache>
            </c:numRef>
          </c:val>
          <c:extLst>
            <c:ext xmlns:c16="http://schemas.microsoft.com/office/drawing/2014/chart" uri="{C3380CC4-5D6E-409C-BE32-E72D297353CC}">
              <c16:uniqueId val="{00000006-6A45-4582-ABFD-F47B4A9881A9}"/>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E5767"/>
                </a:solidFill>
                <a:latin typeface="+mn-lt"/>
              </a:defRPr>
            </a:pPr>
            <a:endParaRPr lang="en-US"/>
          </a:p>
        </c:txPr>
        <c:crossAx val="2094734552"/>
        <c:crosses val="autoZero"/>
        <c:auto val="1"/>
        <c:lblAlgn val="ctr"/>
        <c:lblOffset val="100"/>
        <c:noMultiLvlLbl val="1"/>
      </c:catAx>
      <c:valAx>
        <c:axId val="2094734552"/>
        <c:scaling>
          <c:orientation val="minMax"/>
          <c:max val="3300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D1B2E"/>
                </a:solidFill>
                <a:latin typeface="+mn-lt"/>
              </a:defRPr>
            </a:pPr>
            <a:r>
              <a:rPr lang="en-ID" sz="1400" b="1" i="0" u="none" strike="noStrike">
                <a:solidFill>
                  <a:srgbClr val="0D1B2E"/>
                </a:solidFill>
                <a:latin typeface="+mn-lt"/>
              </a:rPr>
              <a:t>Konversi lihat → beli per jumlah event view (%)</a:t>
            </a:r>
          </a:p>
        </c:rich>
      </c:tx>
      <c:overlay val="0"/>
    </c:title>
    <c:autoTitleDeleted val="0"/>
    <c:plotArea>
      <c:layout/>
      <c:barChart>
        <c:barDir val="col"/>
        <c:grouping val="clustered"/>
        <c:varyColors val="0"/>
        <c:ser>
          <c:idx val="0"/>
          <c:order val="0"/>
          <c:tx>
            <c:strRef>
              <c:f>Sheet1!$B$1</c:f>
              <c:strCache>
                <c:ptCount val="1"/>
                <c:pt idx="0">
                  <c:v>Konversi lihat → beli per jumlah event view (%)</c:v>
                </c:pt>
              </c:strCache>
            </c:strRef>
          </c:tx>
          <c:spPr>
            <a:solidFill>
              <a:srgbClr val="D9822B"/>
            </a:solidFill>
            <a:effectLst/>
          </c:spPr>
          <c:invertIfNegative val="0"/>
          <c:dPt>
            <c:idx val="0"/>
            <c:invertIfNegative val="0"/>
            <c:bubble3D val="0"/>
            <c:spPr>
              <a:solidFill>
                <a:srgbClr val="D9822B"/>
              </a:solidFill>
              <a:effectLst/>
            </c:spPr>
            <c:extLst>
              <c:ext xmlns:c16="http://schemas.microsoft.com/office/drawing/2014/chart" uri="{C3380CC4-5D6E-409C-BE32-E72D297353CC}">
                <c16:uniqueId val="{00000001-B363-4E4A-BD9A-DA6D7A633A9B}"/>
              </c:ext>
            </c:extLst>
          </c:dPt>
          <c:dPt>
            <c:idx val="1"/>
            <c:invertIfNegative val="0"/>
            <c:bubble3D val="0"/>
            <c:spPr>
              <a:solidFill>
                <a:srgbClr val="3D6EA5"/>
              </a:solidFill>
              <a:effectLst/>
            </c:spPr>
            <c:extLst>
              <c:ext xmlns:c16="http://schemas.microsoft.com/office/drawing/2014/chart" uri="{C3380CC4-5D6E-409C-BE32-E72D297353CC}">
                <c16:uniqueId val="{00000003-B363-4E4A-BD9A-DA6D7A633A9B}"/>
              </c:ext>
            </c:extLst>
          </c:dPt>
          <c:dPt>
            <c:idx val="2"/>
            <c:invertIfNegative val="0"/>
            <c:bubble3D val="0"/>
            <c:spPr>
              <a:solidFill>
                <a:srgbClr val="3D6EA5"/>
              </a:solidFill>
              <a:effectLst/>
            </c:spPr>
            <c:extLst>
              <c:ext xmlns:c16="http://schemas.microsoft.com/office/drawing/2014/chart" uri="{C3380CC4-5D6E-409C-BE32-E72D297353CC}">
                <c16:uniqueId val="{00000005-B363-4E4A-BD9A-DA6D7A633A9B}"/>
              </c:ext>
            </c:extLst>
          </c:dPt>
          <c:dPt>
            <c:idx val="3"/>
            <c:invertIfNegative val="0"/>
            <c:bubble3D val="0"/>
            <c:spPr>
              <a:solidFill>
                <a:srgbClr val="3D6EA5"/>
              </a:solidFill>
              <a:effectLst/>
            </c:spPr>
            <c:extLst>
              <c:ext xmlns:c16="http://schemas.microsoft.com/office/drawing/2014/chart" uri="{C3380CC4-5D6E-409C-BE32-E72D297353CC}">
                <c16:uniqueId val="{00000007-B363-4E4A-BD9A-DA6D7A633A9B}"/>
              </c:ext>
            </c:extLst>
          </c:dPt>
          <c:dPt>
            <c:idx val="4"/>
            <c:invertIfNegative val="0"/>
            <c:bubble3D val="0"/>
            <c:spPr>
              <a:solidFill>
                <a:srgbClr val="3D6EA5"/>
              </a:solidFill>
              <a:effectLst/>
            </c:spPr>
            <c:extLst>
              <c:ext xmlns:c16="http://schemas.microsoft.com/office/drawing/2014/chart" uri="{C3380CC4-5D6E-409C-BE32-E72D297353CC}">
                <c16:uniqueId val="{00000009-B363-4E4A-BD9A-DA6D7A633A9B}"/>
              </c:ext>
            </c:extLst>
          </c:dPt>
          <c:dPt>
            <c:idx val="5"/>
            <c:invertIfNegative val="0"/>
            <c:bubble3D val="0"/>
            <c:spPr>
              <a:solidFill>
                <a:srgbClr val="3D6EA5"/>
              </a:solidFill>
              <a:effectLst/>
            </c:spPr>
            <c:extLst>
              <c:ext xmlns:c16="http://schemas.microsoft.com/office/drawing/2014/chart" uri="{C3380CC4-5D6E-409C-BE32-E72D297353CC}">
                <c16:uniqueId val="{0000000B-B363-4E4A-BD9A-DA6D7A633A9B}"/>
              </c:ext>
            </c:extLst>
          </c:dPt>
          <c:dLbls>
            <c:numFmt formatCode="0.0&quot;%&quot;" sourceLinked="0"/>
            <c:spPr>
              <a:noFill/>
              <a:ln>
                <a:noFill/>
              </a:ln>
              <a:effectLst/>
            </c:spPr>
            <c:txPr>
              <a:bodyPr/>
              <a:lstStyle/>
              <a:p>
                <a:pPr>
                  <a:defRPr sz="1200" b="1" i="0" u="none" strike="noStrike">
                    <a:solidFill>
                      <a:srgbClr val="0D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c:v>
                </c:pt>
                <c:pt idx="1">
                  <c:v>2</c:v>
                </c:pt>
                <c:pt idx="2">
                  <c:v>3</c:v>
                </c:pt>
                <c:pt idx="3">
                  <c:v>4-5</c:v>
                </c:pt>
                <c:pt idx="4">
                  <c:v>6-10</c:v>
                </c:pt>
                <c:pt idx="5">
                  <c:v>&gt;10</c:v>
                </c:pt>
              </c:strCache>
            </c:strRef>
          </c:cat>
          <c:val>
            <c:numRef>
              <c:f>Sheet1!$B$2:$B$7</c:f>
              <c:numCache>
                <c:formatCode>General</c:formatCode>
                <c:ptCount val="6"/>
                <c:pt idx="0">
                  <c:v>3.91</c:v>
                </c:pt>
                <c:pt idx="1">
                  <c:v>5.84</c:v>
                </c:pt>
                <c:pt idx="2">
                  <c:v>7.07</c:v>
                </c:pt>
                <c:pt idx="3">
                  <c:v>7.72</c:v>
                </c:pt>
                <c:pt idx="4">
                  <c:v>9.27</c:v>
                </c:pt>
                <c:pt idx="5">
                  <c:v>10.08</c:v>
                </c:pt>
              </c:numCache>
            </c:numRef>
          </c:val>
          <c:extLst>
            <c:ext xmlns:c16="http://schemas.microsoft.com/office/drawing/2014/chart" uri="{C3380CC4-5D6E-409C-BE32-E72D297353CC}">
              <c16:uniqueId val="{0000000C-B363-4E4A-BD9A-DA6D7A633A9B}"/>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E5767"/>
                </a:solidFill>
                <a:latin typeface="+mn-lt"/>
              </a:defRPr>
            </a:pPr>
            <a:endParaRPr lang="en-US"/>
          </a:p>
        </c:txPr>
        <c:crossAx val="2094734552"/>
        <c:crosses val="autoZero"/>
        <c:auto val="1"/>
        <c:lblAlgn val="ctr"/>
        <c:lblOffset val="100"/>
        <c:noMultiLvlLbl val="1"/>
      </c:catAx>
      <c:valAx>
        <c:axId val="2094734552"/>
        <c:scaling>
          <c:orientation val="minMax"/>
          <c:max val="13"/>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D1B2E"/>
                </a:solidFill>
                <a:latin typeface="+mn-lt"/>
              </a:defRPr>
            </a:pPr>
            <a:r>
              <a:rPr lang="en-ID" sz="1400" b="1" i="0" u="none" strike="noStrike">
                <a:solidFill>
                  <a:srgbClr val="0D1B2E"/>
                </a:solidFill>
                <a:latin typeface="+mn-lt"/>
              </a:rPr>
              <a:t>Konversi lihat → beli per jumlah produk unik (%)</a:t>
            </a:r>
          </a:p>
        </c:rich>
      </c:tx>
      <c:overlay val="0"/>
    </c:title>
    <c:autoTitleDeleted val="0"/>
    <c:plotArea>
      <c:layout/>
      <c:barChart>
        <c:barDir val="col"/>
        <c:grouping val="clustered"/>
        <c:varyColors val="0"/>
        <c:ser>
          <c:idx val="0"/>
          <c:order val="0"/>
          <c:tx>
            <c:strRef>
              <c:f>Sheet1!$B$1</c:f>
              <c:strCache>
                <c:ptCount val="1"/>
                <c:pt idx="0">
                  <c:v>Konversi lihat → beli per jumlah produk unik (%)</c:v>
                </c:pt>
              </c:strCache>
            </c:strRef>
          </c:tx>
          <c:spPr>
            <a:solidFill>
              <a:srgbClr val="D9822B"/>
            </a:solidFill>
            <a:effectLst/>
          </c:spPr>
          <c:invertIfNegative val="0"/>
          <c:dPt>
            <c:idx val="0"/>
            <c:invertIfNegative val="0"/>
            <c:bubble3D val="0"/>
            <c:spPr>
              <a:solidFill>
                <a:srgbClr val="D9822B"/>
              </a:solidFill>
              <a:effectLst/>
            </c:spPr>
            <c:extLst>
              <c:ext xmlns:c16="http://schemas.microsoft.com/office/drawing/2014/chart" uri="{C3380CC4-5D6E-409C-BE32-E72D297353CC}">
                <c16:uniqueId val="{00000001-66F7-41F1-8CEC-2C272C0F16F3}"/>
              </c:ext>
            </c:extLst>
          </c:dPt>
          <c:dPt>
            <c:idx val="1"/>
            <c:invertIfNegative val="0"/>
            <c:bubble3D val="0"/>
            <c:spPr>
              <a:solidFill>
                <a:srgbClr val="3D6EA5"/>
              </a:solidFill>
              <a:effectLst/>
            </c:spPr>
            <c:extLst>
              <c:ext xmlns:c16="http://schemas.microsoft.com/office/drawing/2014/chart" uri="{C3380CC4-5D6E-409C-BE32-E72D297353CC}">
                <c16:uniqueId val="{00000003-66F7-41F1-8CEC-2C272C0F16F3}"/>
              </c:ext>
            </c:extLst>
          </c:dPt>
          <c:dPt>
            <c:idx val="2"/>
            <c:invertIfNegative val="0"/>
            <c:bubble3D val="0"/>
            <c:spPr>
              <a:solidFill>
                <a:srgbClr val="3D6EA5"/>
              </a:solidFill>
              <a:effectLst/>
            </c:spPr>
            <c:extLst>
              <c:ext xmlns:c16="http://schemas.microsoft.com/office/drawing/2014/chart" uri="{C3380CC4-5D6E-409C-BE32-E72D297353CC}">
                <c16:uniqueId val="{00000005-66F7-41F1-8CEC-2C272C0F16F3}"/>
              </c:ext>
            </c:extLst>
          </c:dPt>
          <c:dPt>
            <c:idx val="3"/>
            <c:invertIfNegative val="0"/>
            <c:bubble3D val="0"/>
            <c:spPr>
              <a:solidFill>
                <a:srgbClr val="3D6EA5"/>
              </a:solidFill>
              <a:effectLst/>
            </c:spPr>
            <c:extLst>
              <c:ext xmlns:c16="http://schemas.microsoft.com/office/drawing/2014/chart" uri="{C3380CC4-5D6E-409C-BE32-E72D297353CC}">
                <c16:uniqueId val="{00000007-66F7-41F1-8CEC-2C272C0F16F3}"/>
              </c:ext>
            </c:extLst>
          </c:dPt>
          <c:dPt>
            <c:idx val="4"/>
            <c:invertIfNegative val="0"/>
            <c:bubble3D val="0"/>
            <c:spPr>
              <a:solidFill>
                <a:srgbClr val="3D6EA5"/>
              </a:solidFill>
              <a:effectLst/>
            </c:spPr>
            <c:extLst>
              <c:ext xmlns:c16="http://schemas.microsoft.com/office/drawing/2014/chart" uri="{C3380CC4-5D6E-409C-BE32-E72D297353CC}">
                <c16:uniqueId val="{00000009-66F7-41F1-8CEC-2C272C0F16F3}"/>
              </c:ext>
            </c:extLst>
          </c:dPt>
          <c:dPt>
            <c:idx val="5"/>
            <c:invertIfNegative val="0"/>
            <c:bubble3D val="0"/>
            <c:spPr>
              <a:solidFill>
                <a:srgbClr val="3D6EA5"/>
              </a:solidFill>
              <a:effectLst/>
            </c:spPr>
            <c:extLst>
              <c:ext xmlns:c16="http://schemas.microsoft.com/office/drawing/2014/chart" uri="{C3380CC4-5D6E-409C-BE32-E72D297353CC}">
                <c16:uniqueId val="{0000000B-66F7-41F1-8CEC-2C272C0F16F3}"/>
              </c:ext>
            </c:extLst>
          </c:dPt>
          <c:dLbls>
            <c:numFmt formatCode="0.0&quot;%&quot;" sourceLinked="0"/>
            <c:spPr>
              <a:noFill/>
              <a:ln>
                <a:noFill/>
              </a:ln>
              <a:effectLst/>
            </c:spPr>
            <c:txPr>
              <a:bodyPr/>
              <a:lstStyle/>
              <a:p>
                <a:pPr>
                  <a:defRPr sz="1200" b="1" i="0" u="none" strike="noStrike">
                    <a:solidFill>
                      <a:srgbClr val="0D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c:v>
                </c:pt>
                <c:pt idx="1">
                  <c:v>2</c:v>
                </c:pt>
                <c:pt idx="2">
                  <c:v>3</c:v>
                </c:pt>
                <c:pt idx="3">
                  <c:v>4-5</c:v>
                </c:pt>
                <c:pt idx="4">
                  <c:v>6-10</c:v>
                </c:pt>
                <c:pt idx="5">
                  <c:v>&gt;10</c:v>
                </c:pt>
              </c:strCache>
            </c:strRef>
          </c:cat>
          <c:val>
            <c:numRef>
              <c:f>Sheet1!$B$2:$B$7</c:f>
              <c:numCache>
                <c:formatCode>General</c:formatCode>
                <c:ptCount val="6"/>
                <c:pt idx="0">
                  <c:v>4.16</c:v>
                </c:pt>
                <c:pt idx="1">
                  <c:v>6.6</c:v>
                </c:pt>
                <c:pt idx="2">
                  <c:v>7.05</c:v>
                </c:pt>
                <c:pt idx="3">
                  <c:v>8.27</c:v>
                </c:pt>
                <c:pt idx="4">
                  <c:v>8.6199999999999992</c:v>
                </c:pt>
                <c:pt idx="5">
                  <c:v>10.3</c:v>
                </c:pt>
              </c:numCache>
            </c:numRef>
          </c:val>
          <c:extLst>
            <c:ext xmlns:c16="http://schemas.microsoft.com/office/drawing/2014/chart" uri="{C3380CC4-5D6E-409C-BE32-E72D297353CC}">
              <c16:uniqueId val="{0000000C-66F7-41F1-8CEC-2C272C0F16F3}"/>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E5767"/>
                </a:solidFill>
                <a:latin typeface="+mn-lt"/>
              </a:defRPr>
            </a:pPr>
            <a:endParaRPr lang="en-US"/>
          </a:p>
        </c:txPr>
        <c:crossAx val="2094734552"/>
        <c:crosses val="autoZero"/>
        <c:auto val="1"/>
        <c:lblAlgn val="ctr"/>
        <c:lblOffset val="100"/>
        <c:noMultiLvlLbl val="1"/>
      </c:catAx>
      <c:valAx>
        <c:axId val="2094734552"/>
        <c:scaling>
          <c:orientation val="minMax"/>
          <c:max val="13"/>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D1B2E"/>
                </a:solidFill>
                <a:latin typeface="+mn-lt"/>
              </a:defRPr>
            </a:pPr>
            <a:r>
              <a:rPr lang="en-ID" sz="1400" b="1" i="0" u="none" strike="noStrike">
                <a:solidFill>
                  <a:srgbClr val="0D1B2E"/>
                </a:solidFill>
                <a:latin typeface="+mn-lt"/>
              </a:rPr>
              <a:t>Pertama vs kembali (%)</a:t>
            </a:r>
          </a:p>
        </c:rich>
      </c:tx>
      <c:overlay val="0"/>
    </c:title>
    <c:autoTitleDeleted val="0"/>
    <c:plotArea>
      <c:layout/>
      <c:barChart>
        <c:barDir val="col"/>
        <c:grouping val="clustered"/>
        <c:varyColors val="0"/>
        <c:ser>
          <c:idx val="0"/>
          <c:order val="0"/>
          <c:tx>
            <c:strRef>
              <c:f>Sheet1!$B$1</c:f>
              <c:strCache>
                <c:ptCount val="1"/>
                <c:pt idx="0">
                  <c:v>Pertama vs kembali (%)</c:v>
                </c:pt>
              </c:strCache>
            </c:strRef>
          </c:tx>
          <c:spPr>
            <a:solidFill>
              <a:srgbClr val="D9822B"/>
            </a:solidFill>
            <a:effectLst/>
          </c:spPr>
          <c:invertIfNegative val="0"/>
          <c:dPt>
            <c:idx val="0"/>
            <c:invertIfNegative val="0"/>
            <c:bubble3D val="0"/>
            <c:extLst>
              <c:ext xmlns:c16="http://schemas.microsoft.com/office/drawing/2014/chart" uri="{C3380CC4-5D6E-409C-BE32-E72D297353CC}">
                <c16:uniqueId val="{00000001-F2B0-4053-96A6-C74DE4676CFC}"/>
              </c:ext>
            </c:extLst>
          </c:dPt>
          <c:dPt>
            <c:idx val="1"/>
            <c:invertIfNegative val="0"/>
            <c:bubble3D val="0"/>
            <c:spPr>
              <a:solidFill>
                <a:srgbClr val="3D6EA5"/>
              </a:solidFill>
              <a:effectLst/>
            </c:spPr>
            <c:extLst>
              <c:ext xmlns:c16="http://schemas.microsoft.com/office/drawing/2014/chart" uri="{C3380CC4-5D6E-409C-BE32-E72D297353CC}">
                <c16:uniqueId val="{00000003-F2B0-4053-96A6-C74DE4676CFC}"/>
              </c:ext>
            </c:extLst>
          </c:dPt>
          <c:dLbls>
            <c:numFmt formatCode="0.0&quot;%&quot;" sourceLinked="0"/>
            <c:spPr>
              <a:noFill/>
              <a:ln>
                <a:noFill/>
              </a:ln>
              <a:effectLst/>
            </c:spPr>
            <c:txPr>
              <a:bodyPr/>
              <a:lstStyle/>
              <a:p>
                <a:pPr>
                  <a:defRPr sz="1200" b="1" i="0" u="none" strike="noStrike">
                    <a:solidFill>
                      <a:srgbClr val="0D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Kunjungan pertama</c:v>
                </c:pt>
                <c:pt idx="1">
                  <c:v>Kunjungan kembali</c:v>
                </c:pt>
              </c:strCache>
            </c:strRef>
          </c:cat>
          <c:val>
            <c:numRef>
              <c:f>Sheet1!$B$2:$B$3</c:f>
              <c:numCache>
                <c:formatCode>General</c:formatCode>
                <c:ptCount val="2"/>
                <c:pt idx="0">
                  <c:v>3.68</c:v>
                </c:pt>
                <c:pt idx="1">
                  <c:v>8.73</c:v>
                </c:pt>
              </c:numCache>
            </c:numRef>
          </c:val>
          <c:extLst>
            <c:ext xmlns:c16="http://schemas.microsoft.com/office/drawing/2014/chart" uri="{C3380CC4-5D6E-409C-BE32-E72D297353CC}">
              <c16:uniqueId val="{00000004-F2B0-4053-96A6-C74DE4676CFC}"/>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E5767"/>
                </a:solidFill>
                <a:latin typeface="+mn-lt"/>
              </a:defRPr>
            </a:pPr>
            <a:endParaRPr lang="en-US"/>
          </a:p>
        </c:txPr>
        <c:crossAx val="2094734552"/>
        <c:crosses val="autoZero"/>
        <c:auto val="1"/>
        <c:lblAlgn val="ctr"/>
        <c:lblOffset val="100"/>
        <c:noMultiLvlLbl val="1"/>
      </c:catAx>
      <c:valAx>
        <c:axId val="2094734552"/>
        <c:scaling>
          <c:orientation val="minMax"/>
          <c:max val="1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D1B2E"/>
                </a:solidFill>
                <a:latin typeface="+mn-lt"/>
              </a:defRPr>
            </a:pPr>
            <a:r>
              <a:rPr lang="it-IT" sz="1400" b="1" i="0" u="none" strike="noStrike">
                <a:solidFill>
                  <a:srgbClr val="0D1B2E"/>
                </a:solidFill>
                <a:latin typeface="+mn-lt"/>
              </a:rPr>
              <a:t>Konversi lihat → beli per segmen (%)</a:t>
            </a:r>
          </a:p>
        </c:rich>
      </c:tx>
      <c:overlay val="0"/>
    </c:title>
    <c:autoTitleDeleted val="0"/>
    <c:plotArea>
      <c:layout/>
      <c:barChart>
        <c:barDir val="col"/>
        <c:grouping val="clustered"/>
        <c:varyColors val="0"/>
        <c:ser>
          <c:idx val="0"/>
          <c:order val="0"/>
          <c:tx>
            <c:strRef>
              <c:f>Sheet1!$B$1</c:f>
              <c:strCache>
                <c:ptCount val="1"/>
                <c:pt idx="0">
                  <c:v>Konversi lihat → beli per segmen (%)</c:v>
                </c:pt>
              </c:strCache>
            </c:strRef>
          </c:tx>
          <c:spPr>
            <a:solidFill>
              <a:srgbClr val="D9822B"/>
            </a:solidFill>
            <a:effectLst/>
          </c:spPr>
          <c:invertIfNegative val="0"/>
          <c:dPt>
            <c:idx val="0"/>
            <c:invertIfNegative val="0"/>
            <c:bubble3D val="0"/>
            <c:spPr>
              <a:solidFill>
                <a:srgbClr val="D9822B"/>
              </a:solidFill>
              <a:effectLst/>
            </c:spPr>
            <c:extLst>
              <c:ext xmlns:c16="http://schemas.microsoft.com/office/drawing/2014/chart" uri="{C3380CC4-5D6E-409C-BE32-E72D297353CC}">
                <c16:uniqueId val="{00000001-D8BB-46B9-80B2-DE5A615C801E}"/>
              </c:ext>
            </c:extLst>
          </c:dPt>
          <c:dPt>
            <c:idx val="1"/>
            <c:invertIfNegative val="0"/>
            <c:bubble3D val="0"/>
            <c:spPr>
              <a:solidFill>
                <a:srgbClr val="3D6EA5"/>
              </a:solidFill>
              <a:effectLst/>
            </c:spPr>
            <c:extLst>
              <c:ext xmlns:c16="http://schemas.microsoft.com/office/drawing/2014/chart" uri="{C3380CC4-5D6E-409C-BE32-E72D297353CC}">
                <c16:uniqueId val="{00000003-D8BB-46B9-80B2-DE5A615C801E}"/>
              </c:ext>
            </c:extLst>
          </c:dPt>
          <c:dPt>
            <c:idx val="2"/>
            <c:invertIfNegative val="0"/>
            <c:bubble3D val="0"/>
            <c:spPr>
              <a:solidFill>
                <a:srgbClr val="3D6EA5"/>
              </a:solidFill>
              <a:effectLst/>
            </c:spPr>
            <c:extLst>
              <c:ext xmlns:c16="http://schemas.microsoft.com/office/drawing/2014/chart" uri="{C3380CC4-5D6E-409C-BE32-E72D297353CC}">
                <c16:uniqueId val="{00000005-D8BB-46B9-80B2-DE5A615C801E}"/>
              </c:ext>
            </c:extLst>
          </c:dPt>
          <c:dPt>
            <c:idx val="3"/>
            <c:invertIfNegative val="0"/>
            <c:bubble3D val="0"/>
            <c:spPr>
              <a:solidFill>
                <a:srgbClr val="3D6EA5"/>
              </a:solidFill>
              <a:effectLst/>
            </c:spPr>
            <c:extLst>
              <c:ext xmlns:c16="http://schemas.microsoft.com/office/drawing/2014/chart" uri="{C3380CC4-5D6E-409C-BE32-E72D297353CC}">
                <c16:uniqueId val="{00000007-D8BB-46B9-80B2-DE5A615C801E}"/>
              </c:ext>
            </c:extLst>
          </c:dPt>
          <c:dLbls>
            <c:numFmt formatCode="0.0&quot;%&quot;" sourceLinked="0"/>
            <c:spPr>
              <a:noFill/>
              <a:ln>
                <a:noFill/>
              </a:ln>
              <a:effectLst/>
            </c:spPr>
            <c:txPr>
              <a:bodyPr/>
              <a:lstStyle/>
              <a:p>
                <a:pPr>
                  <a:defRPr sz="1200" b="1" i="0" u="none" strike="noStrike">
                    <a:solidFill>
                      <a:srgbClr val="0D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 view, pertama</c:v>
                </c:pt>
                <c:pt idx="1">
                  <c:v>1 view, kembali</c:v>
                </c:pt>
                <c:pt idx="2">
                  <c:v>2+ view, pertama</c:v>
                </c:pt>
                <c:pt idx="3">
                  <c:v>2+ view, kembali</c:v>
                </c:pt>
              </c:strCache>
            </c:strRef>
          </c:cat>
          <c:val>
            <c:numRef>
              <c:f>Sheet1!$B$2:$B$5</c:f>
              <c:numCache>
                <c:formatCode>General</c:formatCode>
                <c:ptCount val="4"/>
                <c:pt idx="0">
                  <c:v>3.06</c:v>
                </c:pt>
                <c:pt idx="1">
                  <c:v>8.26</c:v>
                </c:pt>
                <c:pt idx="2">
                  <c:v>5.79</c:v>
                </c:pt>
                <c:pt idx="3">
                  <c:v>10.029999999999999</c:v>
                </c:pt>
              </c:numCache>
            </c:numRef>
          </c:val>
          <c:extLst>
            <c:ext xmlns:c16="http://schemas.microsoft.com/office/drawing/2014/chart" uri="{C3380CC4-5D6E-409C-BE32-E72D297353CC}">
              <c16:uniqueId val="{00000008-D8BB-46B9-80B2-DE5A615C801E}"/>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E5767"/>
                </a:solidFill>
                <a:latin typeface="+mn-lt"/>
              </a:defRPr>
            </a:pPr>
            <a:endParaRPr lang="en-US"/>
          </a:p>
        </c:txPr>
        <c:crossAx val="2094734552"/>
        <c:crosses val="autoZero"/>
        <c:auto val="1"/>
        <c:lblAlgn val="ctr"/>
        <c:lblOffset val="100"/>
        <c:noMultiLvlLbl val="1"/>
      </c:catAx>
      <c:valAx>
        <c:axId val="2094734552"/>
        <c:scaling>
          <c:orientation val="minMax"/>
          <c:max val="13"/>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D1B2E"/>
                </a:solidFill>
                <a:latin typeface="+mn-lt"/>
              </a:defRPr>
            </a:pPr>
            <a:r>
              <a:rPr lang="en-ID" sz="1400" b="1" i="0" u="none" strike="noStrike">
                <a:solidFill>
                  <a:srgbClr val="0D1B2E"/>
                </a:solidFill>
                <a:latin typeface="+mn-lt"/>
              </a:rPr>
              <a:t>Per popularitas produk (%)</a:t>
            </a:r>
          </a:p>
        </c:rich>
      </c:tx>
      <c:overlay val="0"/>
    </c:title>
    <c:autoTitleDeleted val="0"/>
    <c:plotArea>
      <c:layout/>
      <c:barChart>
        <c:barDir val="col"/>
        <c:grouping val="clustered"/>
        <c:varyColors val="0"/>
        <c:ser>
          <c:idx val="0"/>
          <c:order val="0"/>
          <c:tx>
            <c:strRef>
              <c:f>Sheet1!$B$1</c:f>
              <c:strCache>
                <c:ptCount val="1"/>
                <c:pt idx="0">
                  <c:v>Per popularitas produk (%)</c:v>
                </c:pt>
              </c:strCache>
            </c:strRef>
          </c:tx>
          <c:spPr>
            <a:solidFill>
              <a:srgbClr val="D9822B"/>
            </a:solidFill>
            <a:effectLst/>
          </c:spPr>
          <c:invertIfNegative val="0"/>
          <c:dPt>
            <c:idx val="0"/>
            <c:invertIfNegative val="0"/>
            <c:bubble3D val="0"/>
            <c:spPr>
              <a:solidFill>
                <a:srgbClr val="D9822B"/>
              </a:solidFill>
              <a:effectLst/>
            </c:spPr>
            <c:extLst>
              <c:ext xmlns:c16="http://schemas.microsoft.com/office/drawing/2014/chart" uri="{C3380CC4-5D6E-409C-BE32-E72D297353CC}">
                <c16:uniqueId val="{00000001-FA5F-444B-93B8-BFB6B482DC0E}"/>
              </c:ext>
            </c:extLst>
          </c:dPt>
          <c:dPt>
            <c:idx val="1"/>
            <c:invertIfNegative val="0"/>
            <c:bubble3D val="0"/>
            <c:spPr>
              <a:solidFill>
                <a:srgbClr val="3D6EA5"/>
              </a:solidFill>
              <a:effectLst/>
            </c:spPr>
            <c:extLst>
              <c:ext xmlns:c16="http://schemas.microsoft.com/office/drawing/2014/chart" uri="{C3380CC4-5D6E-409C-BE32-E72D297353CC}">
                <c16:uniqueId val="{00000003-FA5F-444B-93B8-BFB6B482DC0E}"/>
              </c:ext>
            </c:extLst>
          </c:dPt>
          <c:dPt>
            <c:idx val="2"/>
            <c:invertIfNegative val="0"/>
            <c:bubble3D val="0"/>
            <c:spPr>
              <a:solidFill>
                <a:srgbClr val="3D6EA5"/>
              </a:solidFill>
              <a:effectLst/>
            </c:spPr>
            <c:extLst>
              <c:ext xmlns:c16="http://schemas.microsoft.com/office/drawing/2014/chart" uri="{C3380CC4-5D6E-409C-BE32-E72D297353CC}">
                <c16:uniqueId val="{00000005-FA5F-444B-93B8-BFB6B482DC0E}"/>
              </c:ext>
            </c:extLst>
          </c:dPt>
          <c:dPt>
            <c:idx val="3"/>
            <c:invertIfNegative val="0"/>
            <c:bubble3D val="0"/>
            <c:spPr>
              <a:solidFill>
                <a:srgbClr val="3D6EA5"/>
              </a:solidFill>
              <a:effectLst/>
            </c:spPr>
            <c:extLst>
              <c:ext xmlns:c16="http://schemas.microsoft.com/office/drawing/2014/chart" uri="{C3380CC4-5D6E-409C-BE32-E72D297353CC}">
                <c16:uniqueId val="{00000007-FA5F-444B-93B8-BFB6B482DC0E}"/>
              </c:ext>
            </c:extLst>
          </c:dPt>
          <c:dLbls>
            <c:numFmt formatCode="0.0&quot;%&quot;" sourceLinked="0"/>
            <c:spPr>
              <a:noFill/>
              <a:ln>
                <a:noFill/>
              </a:ln>
              <a:effectLst/>
            </c:spPr>
            <c:txPr>
              <a:bodyPr/>
              <a:lstStyle/>
              <a:p>
                <a:pPr>
                  <a:defRPr sz="1200" b="1" i="0" u="none" strike="noStrike">
                    <a:solidFill>
                      <a:srgbClr val="0D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jarang</c:v>
                </c:pt>
                <c:pt idx="1">
                  <c:v>Q2</c:v>
                </c:pt>
                <c:pt idx="2">
                  <c:v>Q3</c:v>
                </c:pt>
                <c:pt idx="3">
                  <c:v>Q4 populer</c:v>
                </c:pt>
              </c:strCache>
            </c:strRef>
          </c:cat>
          <c:val>
            <c:numRef>
              <c:f>Sheet1!$B$2:$B$5</c:f>
              <c:numCache>
                <c:formatCode>General</c:formatCode>
                <c:ptCount val="4"/>
                <c:pt idx="0">
                  <c:v>2.23</c:v>
                </c:pt>
                <c:pt idx="1">
                  <c:v>3.33</c:v>
                </c:pt>
                <c:pt idx="2">
                  <c:v>4.9000000000000004</c:v>
                </c:pt>
                <c:pt idx="3">
                  <c:v>7.73</c:v>
                </c:pt>
              </c:numCache>
            </c:numRef>
          </c:val>
          <c:extLst>
            <c:ext xmlns:c16="http://schemas.microsoft.com/office/drawing/2014/chart" uri="{C3380CC4-5D6E-409C-BE32-E72D297353CC}">
              <c16:uniqueId val="{00000008-FA5F-444B-93B8-BFB6B482DC0E}"/>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E5767"/>
                </a:solidFill>
                <a:latin typeface="+mn-lt"/>
              </a:defRPr>
            </a:pPr>
            <a:endParaRPr lang="en-US"/>
          </a:p>
        </c:txPr>
        <c:crossAx val="2094734552"/>
        <c:crosses val="autoZero"/>
        <c:auto val="1"/>
        <c:lblAlgn val="ctr"/>
        <c:lblOffset val="100"/>
        <c:noMultiLvlLbl val="1"/>
      </c:catAx>
      <c:valAx>
        <c:axId val="2094734552"/>
        <c:scaling>
          <c:orientation val="minMax"/>
          <c:max val="1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D1B2E"/>
                </a:solidFill>
                <a:latin typeface="+mn-lt"/>
              </a:defRPr>
            </a:pPr>
            <a:r>
              <a:rPr lang="it-IT" sz="1400" b="1" i="0" u="none" strike="noStrike">
                <a:solidFill>
                  <a:srgbClr val="0D1B2E"/>
                </a:solidFill>
                <a:latin typeface="+mn-lt"/>
              </a:rPr>
              <a:t>Per kategori, view pertama (%): oranye = di bawah rata-rata 4,5%</a:t>
            </a:r>
          </a:p>
        </c:rich>
      </c:tx>
      <c:overlay val="0"/>
    </c:title>
    <c:autoTitleDeleted val="0"/>
    <c:plotArea>
      <c:layout/>
      <c:barChart>
        <c:barDir val="col"/>
        <c:grouping val="clustered"/>
        <c:varyColors val="0"/>
        <c:ser>
          <c:idx val="0"/>
          <c:order val="0"/>
          <c:tx>
            <c:strRef>
              <c:f>Sheet1!$B$1</c:f>
              <c:strCache>
                <c:ptCount val="1"/>
                <c:pt idx="0">
                  <c:v>Per kategori, view pertama (%): oranye = di bawah rata-rata 4,5%</c:v>
                </c:pt>
              </c:strCache>
            </c:strRef>
          </c:tx>
          <c:spPr>
            <a:solidFill>
              <a:srgbClr val="3D6EA5"/>
            </a:solidFill>
            <a:effectLst/>
          </c:spPr>
          <c:invertIfNegative val="0"/>
          <c:dPt>
            <c:idx val="0"/>
            <c:invertIfNegative val="0"/>
            <c:bubble3D val="0"/>
            <c:extLst>
              <c:ext xmlns:c16="http://schemas.microsoft.com/office/drawing/2014/chart" uri="{C3380CC4-5D6E-409C-BE32-E72D297353CC}">
                <c16:uniqueId val="{00000001-C0D2-4460-B5E6-DBB194DB050E}"/>
              </c:ext>
            </c:extLst>
          </c:dPt>
          <c:dPt>
            <c:idx val="1"/>
            <c:invertIfNegative val="0"/>
            <c:bubble3D val="0"/>
            <c:extLst>
              <c:ext xmlns:c16="http://schemas.microsoft.com/office/drawing/2014/chart" uri="{C3380CC4-5D6E-409C-BE32-E72D297353CC}">
                <c16:uniqueId val="{00000003-C0D2-4460-B5E6-DBB194DB050E}"/>
              </c:ext>
            </c:extLst>
          </c:dPt>
          <c:dPt>
            <c:idx val="2"/>
            <c:invertIfNegative val="0"/>
            <c:bubble3D val="0"/>
            <c:spPr>
              <a:solidFill>
                <a:srgbClr val="D9822B"/>
              </a:solidFill>
              <a:effectLst/>
            </c:spPr>
            <c:extLst>
              <c:ext xmlns:c16="http://schemas.microsoft.com/office/drawing/2014/chart" uri="{C3380CC4-5D6E-409C-BE32-E72D297353CC}">
                <c16:uniqueId val="{00000005-C0D2-4460-B5E6-DBB194DB050E}"/>
              </c:ext>
            </c:extLst>
          </c:dPt>
          <c:dPt>
            <c:idx val="3"/>
            <c:invertIfNegative val="0"/>
            <c:bubble3D val="0"/>
            <c:spPr>
              <a:solidFill>
                <a:srgbClr val="D9822B"/>
              </a:solidFill>
              <a:effectLst/>
            </c:spPr>
            <c:extLst>
              <c:ext xmlns:c16="http://schemas.microsoft.com/office/drawing/2014/chart" uri="{C3380CC4-5D6E-409C-BE32-E72D297353CC}">
                <c16:uniqueId val="{00000007-C0D2-4460-B5E6-DBB194DB050E}"/>
              </c:ext>
            </c:extLst>
          </c:dPt>
          <c:dPt>
            <c:idx val="4"/>
            <c:invertIfNegative val="0"/>
            <c:bubble3D val="0"/>
            <c:spPr>
              <a:solidFill>
                <a:srgbClr val="D9822B"/>
              </a:solidFill>
              <a:effectLst/>
            </c:spPr>
            <c:extLst>
              <c:ext xmlns:c16="http://schemas.microsoft.com/office/drawing/2014/chart" uri="{C3380CC4-5D6E-409C-BE32-E72D297353CC}">
                <c16:uniqueId val="{00000009-C0D2-4460-B5E6-DBB194DB050E}"/>
              </c:ext>
            </c:extLst>
          </c:dPt>
          <c:dPt>
            <c:idx val="5"/>
            <c:invertIfNegative val="0"/>
            <c:bubble3D val="0"/>
            <c:spPr>
              <a:solidFill>
                <a:srgbClr val="D9822B"/>
              </a:solidFill>
              <a:effectLst/>
            </c:spPr>
            <c:extLst>
              <c:ext xmlns:c16="http://schemas.microsoft.com/office/drawing/2014/chart" uri="{C3380CC4-5D6E-409C-BE32-E72D297353CC}">
                <c16:uniqueId val="{0000000B-C0D2-4460-B5E6-DBB194DB050E}"/>
              </c:ext>
            </c:extLst>
          </c:dPt>
          <c:dLbls>
            <c:numFmt formatCode="0.0&quot;%&quot;" sourceLinked="0"/>
            <c:spPr>
              <a:noFill/>
              <a:ln>
                <a:noFill/>
              </a:ln>
              <a:effectLst/>
            </c:spPr>
            <c:txPr>
              <a:bodyPr/>
              <a:lstStyle/>
              <a:p>
                <a:pPr>
                  <a:defRPr sz="1200" b="1" i="0" u="none" strike="noStrike">
                    <a:solidFill>
                      <a:srgbClr val="0D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Komputer</c:v>
                </c:pt>
                <c:pt idx="1">
                  <c:v>Alat tulis</c:v>
                </c:pt>
                <c:pt idx="2">
                  <c:v>Otomotif</c:v>
                </c:pt>
                <c:pt idx="3">
                  <c:v>Konstruksi</c:v>
                </c:pt>
                <c:pt idx="4">
                  <c:v>Elektronik</c:v>
                </c:pt>
                <c:pt idx="5">
                  <c:v>Peralatan rumah</c:v>
                </c:pt>
              </c:strCache>
            </c:strRef>
          </c:cat>
          <c:val>
            <c:numRef>
              <c:f>Sheet1!$B$2:$B$7</c:f>
              <c:numCache>
                <c:formatCode>General</c:formatCode>
                <c:ptCount val="6"/>
                <c:pt idx="0">
                  <c:v>6.32</c:v>
                </c:pt>
                <c:pt idx="1">
                  <c:v>5</c:v>
                </c:pt>
                <c:pt idx="2">
                  <c:v>3.22</c:v>
                </c:pt>
                <c:pt idx="3">
                  <c:v>2.89</c:v>
                </c:pt>
                <c:pt idx="4">
                  <c:v>2.87</c:v>
                </c:pt>
                <c:pt idx="5">
                  <c:v>2.2400000000000002</c:v>
                </c:pt>
              </c:numCache>
            </c:numRef>
          </c:val>
          <c:extLst>
            <c:ext xmlns:c16="http://schemas.microsoft.com/office/drawing/2014/chart" uri="{C3380CC4-5D6E-409C-BE32-E72D297353CC}">
              <c16:uniqueId val="{0000000C-C0D2-4460-B5E6-DBB194DB050E}"/>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E5767"/>
                </a:solidFill>
                <a:latin typeface="+mn-lt"/>
              </a:defRPr>
            </a:pPr>
            <a:endParaRPr lang="en-US"/>
          </a:p>
        </c:txPr>
        <c:crossAx val="2094734552"/>
        <c:crosses val="autoZero"/>
        <c:auto val="1"/>
        <c:lblAlgn val="ctr"/>
        <c:lblOffset val="100"/>
        <c:noMultiLvlLbl val="1"/>
      </c:catAx>
      <c:valAx>
        <c:axId val="2094734552"/>
        <c:scaling>
          <c:orientation val="minMax"/>
          <c:max val="8"/>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D1B2E"/>
                </a:solidFill>
                <a:latin typeface="+mn-lt"/>
              </a:defRPr>
            </a:pPr>
            <a:r>
              <a:rPr lang="en-ID" sz="1400" b="1" i="0" u="none" strike="noStrike">
                <a:solidFill>
                  <a:srgbClr val="0D1B2E"/>
                </a:solidFill>
                <a:latin typeface="+mn-lt"/>
              </a:rPr>
              <a:t>Konversi lihat → beli per kuintil harga, Q5 termahal (%)</a:t>
            </a:r>
          </a:p>
        </c:rich>
      </c:tx>
      <c:overlay val="0"/>
    </c:title>
    <c:autoTitleDeleted val="0"/>
    <c:plotArea>
      <c:layout/>
      <c:barChart>
        <c:barDir val="col"/>
        <c:grouping val="clustered"/>
        <c:varyColors val="0"/>
        <c:ser>
          <c:idx val="0"/>
          <c:order val="0"/>
          <c:tx>
            <c:strRef>
              <c:f>Sheet1!$B$1</c:f>
              <c:strCache>
                <c:ptCount val="1"/>
                <c:pt idx="0">
                  <c:v>Konversi lihat → beli per kuintil harga, Q5 termahal (%)</c:v>
                </c:pt>
              </c:strCache>
            </c:strRef>
          </c:tx>
          <c:spPr>
            <a:solidFill>
              <a:srgbClr val="3D6EA5"/>
            </a:solidFill>
            <a:effectLst/>
          </c:spPr>
          <c:invertIfNegative val="0"/>
          <c:dPt>
            <c:idx val="0"/>
            <c:invertIfNegative val="0"/>
            <c:bubble3D val="0"/>
            <c:spPr>
              <a:solidFill>
                <a:srgbClr val="3D6EA5"/>
              </a:solidFill>
              <a:effectLst/>
            </c:spPr>
            <c:extLst>
              <c:ext xmlns:c16="http://schemas.microsoft.com/office/drawing/2014/chart" uri="{C3380CC4-5D6E-409C-BE32-E72D297353CC}">
                <c16:uniqueId val="{00000001-14E4-419F-A7B8-AE31AE83B659}"/>
              </c:ext>
            </c:extLst>
          </c:dPt>
          <c:dPt>
            <c:idx val="1"/>
            <c:invertIfNegative val="0"/>
            <c:bubble3D val="0"/>
            <c:spPr>
              <a:solidFill>
                <a:srgbClr val="3D6EA5"/>
              </a:solidFill>
              <a:effectLst/>
            </c:spPr>
            <c:extLst>
              <c:ext xmlns:c16="http://schemas.microsoft.com/office/drawing/2014/chart" uri="{C3380CC4-5D6E-409C-BE32-E72D297353CC}">
                <c16:uniqueId val="{00000003-14E4-419F-A7B8-AE31AE83B659}"/>
              </c:ext>
            </c:extLst>
          </c:dPt>
          <c:dPt>
            <c:idx val="2"/>
            <c:invertIfNegative val="0"/>
            <c:bubble3D val="0"/>
            <c:spPr>
              <a:solidFill>
                <a:srgbClr val="3D6EA5"/>
              </a:solidFill>
              <a:effectLst/>
            </c:spPr>
            <c:extLst>
              <c:ext xmlns:c16="http://schemas.microsoft.com/office/drawing/2014/chart" uri="{C3380CC4-5D6E-409C-BE32-E72D297353CC}">
                <c16:uniqueId val="{00000005-14E4-419F-A7B8-AE31AE83B659}"/>
              </c:ext>
            </c:extLst>
          </c:dPt>
          <c:dPt>
            <c:idx val="3"/>
            <c:invertIfNegative val="0"/>
            <c:bubble3D val="0"/>
            <c:spPr>
              <a:solidFill>
                <a:srgbClr val="3D6EA5"/>
              </a:solidFill>
              <a:effectLst/>
            </c:spPr>
            <c:extLst>
              <c:ext xmlns:c16="http://schemas.microsoft.com/office/drawing/2014/chart" uri="{C3380CC4-5D6E-409C-BE32-E72D297353CC}">
                <c16:uniqueId val="{00000007-14E4-419F-A7B8-AE31AE83B659}"/>
              </c:ext>
            </c:extLst>
          </c:dPt>
          <c:dPt>
            <c:idx val="4"/>
            <c:invertIfNegative val="0"/>
            <c:bubble3D val="0"/>
            <c:spPr>
              <a:solidFill>
                <a:srgbClr val="3D6EA5"/>
              </a:solidFill>
              <a:effectLst/>
            </c:spPr>
            <c:extLst>
              <c:ext xmlns:c16="http://schemas.microsoft.com/office/drawing/2014/chart" uri="{C3380CC4-5D6E-409C-BE32-E72D297353CC}">
                <c16:uniqueId val="{00000009-14E4-419F-A7B8-AE31AE83B659}"/>
              </c:ext>
            </c:extLst>
          </c:dPt>
          <c:dLbls>
            <c:numFmt formatCode="0.0&quot;%&quot;" sourceLinked="0"/>
            <c:spPr>
              <a:noFill/>
              <a:ln>
                <a:noFill/>
              </a:ln>
              <a:effectLst/>
            </c:spPr>
            <c:txPr>
              <a:bodyPr/>
              <a:lstStyle/>
              <a:p>
                <a:pPr>
                  <a:defRPr sz="1200" b="1" i="0" u="none" strike="noStrike">
                    <a:solidFill>
                      <a:srgbClr val="0D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Q1</c:v>
                </c:pt>
                <c:pt idx="1">
                  <c:v>Q2</c:v>
                </c:pt>
                <c:pt idx="2">
                  <c:v>Q3</c:v>
                </c:pt>
                <c:pt idx="3">
                  <c:v>Q4</c:v>
                </c:pt>
                <c:pt idx="4">
                  <c:v>Q5</c:v>
                </c:pt>
              </c:strCache>
            </c:strRef>
          </c:cat>
          <c:val>
            <c:numRef>
              <c:f>Sheet1!$B$2:$B$6</c:f>
              <c:numCache>
                <c:formatCode>General</c:formatCode>
                <c:ptCount val="5"/>
                <c:pt idx="0">
                  <c:v>4.0999999999999996</c:v>
                </c:pt>
                <c:pt idx="1">
                  <c:v>3.61</c:v>
                </c:pt>
                <c:pt idx="2">
                  <c:v>3.96</c:v>
                </c:pt>
                <c:pt idx="3">
                  <c:v>5.39</c:v>
                </c:pt>
                <c:pt idx="4">
                  <c:v>5.66</c:v>
                </c:pt>
              </c:numCache>
            </c:numRef>
          </c:val>
          <c:extLst>
            <c:ext xmlns:c16="http://schemas.microsoft.com/office/drawing/2014/chart" uri="{C3380CC4-5D6E-409C-BE32-E72D297353CC}">
              <c16:uniqueId val="{0000000A-14E4-419F-A7B8-AE31AE83B659}"/>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E5767"/>
                </a:solidFill>
                <a:latin typeface="+mn-lt"/>
              </a:defRPr>
            </a:pPr>
            <a:endParaRPr lang="en-US"/>
          </a:p>
        </c:txPr>
        <c:crossAx val="2094734552"/>
        <c:crosses val="autoZero"/>
        <c:auto val="1"/>
        <c:lblAlgn val="ctr"/>
        <c:lblOffset val="100"/>
        <c:noMultiLvlLbl val="1"/>
      </c:catAx>
      <c:valAx>
        <c:axId val="2094734552"/>
        <c:scaling>
          <c:orientation val="minMax"/>
          <c:max val="7.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D1B2E"/>
                </a:solidFill>
                <a:latin typeface="+mn-lt"/>
              </a:defRPr>
            </a:pPr>
            <a:r>
              <a:rPr lang="nn-NO" sz="1400" b="1" i="0" u="none" strike="noStrike">
                <a:solidFill>
                  <a:srgbClr val="0D1B2E"/>
                </a:solidFill>
                <a:latin typeface="+mn-lt"/>
              </a:rPr>
              <a:t>Keranjang → beli per kuintil harga (%)</a:t>
            </a:r>
          </a:p>
        </c:rich>
      </c:tx>
      <c:overlay val="0"/>
    </c:title>
    <c:autoTitleDeleted val="0"/>
    <c:plotArea>
      <c:layout/>
      <c:barChart>
        <c:barDir val="col"/>
        <c:grouping val="clustered"/>
        <c:varyColors val="0"/>
        <c:ser>
          <c:idx val="0"/>
          <c:order val="0"/>
          <c:tx>
            <c:strRef>
              <c:f>Sheet1!$B$1</c:f>
              <c:strCache>
                <c:ptCount val="1"/>
                <c:pt idx="0">
                  <c:v>Keranjang → beli per kuintil harga (%)</c:v>
                </c:pt>
              </c:strCache>
            </c:strRef>
          </c:tx>
          <c:spPr>
            <a:solidFill>
              <a:srgbClr val="3D6EA5"/>
            </a:solidFill>
            <a:effectLst/>
          </c:spPr>
          <c:invertIfNegative val="0"/>
          <c:dPt>
            <c:idx val="0"/>
            <c:invertIfNegative val="0"/>
            <c:bubble3D val="0"/>
            <c:spPr>
              <a:solidFill>
                <a:srgbClr val="3D6EA5"/>
              </a:solidFill>
              <a:effectLst/>
            </c:spPr>
            <c:extLst>
              <c:ext xmlns:c16="http://schemas.microsoft.com/office/drawing/2014/chart" uri="{C3380CC4-5D6E-409C-BE32-E72D297353CC}">
                <c16:uniqueId val="{00000001-0495-4339-8E1E-CAD0919EC40F}"/>
              </c:ext>
            </c:extLst>
          </c:dPt>
          <c:dPt>
            <c:idx val="1"/>
            <c:invertIfNegative val="0"/>
            <c:bubble3D val="0"/>
            <c:spPr>
              <a:solidFill>
                <a:srgbClr val="3D6EA5"/>
              </a:solidFill>
              <a:effectLst/>
            </c:spPr>
            <c:extLst>
              <c:ext xmlns:c16="http://schemas.microsoft.com/office/drawing/2014/chart" uri="{C3380CC4-5D6E-409C-BE32-E72D297353CC}">
                <c16:uniqueId val="{00000003-0495-4339-8E1E-CAD0919EC40F}"/>
              </c:ext>
            </c:extLst>
          </c:dPt>
          <c:dPt>
            <c:idx val="2"/>
            <c:invertIfNegative val="0"/>
            <c:bubble3D val="0"/>
            <c:spPr>
              <a:solidFill>
                <a:srgbClr val="3D6EA5"/>
              </a:solidFill>
              <a:effectLst/>
            </c:spPr>
            <c:extLst>
              <c:ext xmlns:c16="http://schemas.microsoft.com/office/drawing/2014/chart" uri="{C3380CC4-5D6E-409C-BE32-E72D297353CC}">
                <c16:uniqueId val="{00000005-0495-4339-8E1E-CAD0919EC40F}"/>
              </c:ext>
            </c:extLst>
          </c:dPt>
          <c:dPt>
            <c:idx val="3"/>
            <c:invertIfNegative val="0"/>
            <c:bubble3D val="0"/>
            <c:spPr>
              <a:solidFill>
                <a:srgbClr val="3D6EA5"/>
              </a:solidFill>
              <a:effectLst/>
            </c:spPr>
            <c:extLst>
              <c:ext xmlns:c16="http://schemas.microsoft.com/office/drawing/2014/chart" uri="{C3380CC4-5D6E-409C-BE32-E72D297353CC}">
                <c16:uniqueId val="{00000007-0495-4339-8E1E-CAD0919EC40F}"/>
              </c:ext>
            </c:extLst>
          </c:dPt>
          <c:dPt>
            <c:idx val="4"/>
            <c:invertIfNegative val="0"/>
            <c:bubble3D val="0"/>
            <c:spPr>
              <a:solidFill>
                <a:srgbClr val="D9822B"/>
              </a:solidFill>
              <a:effectLst/>
            </c:spPr>
            <c:extLst>
              <c:ext xmlns:c16="http://schemas.microsoft.com/office/drawing/2014/chart" uri="{C3380CC4-5D6E-409C-BE32-E72D297353CC}">
                <c16:uniqueId val="{00000009-0495-4339-8E1E-CAD0919EC40F}"/>
              </c:ext>
            </c:extLst>
          </c:dPt>
          <c:dLbls>
            <c:numFmt formatCode="0.0&quot;%&quot;" sourceLinked="0"/>
            <c:spPr>
              <a:noFill/>
              <a:ln>
                <a:noFill/>
              </a:ln>
              <a:effectLst/>
            </c:spPr>
            <c:txPr>
              <a:bodyPr/>
              <a:lstStyle/>
              <a:p>
                <a:pPr>
                  <a:defRPr sz="1200" b="1" i="0" u="none" strike="noStrike">
                    <a:solidFill>
                      <a:srgbClr val="0D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Q1</c:v>
                </c:pt>
                <c:pt idx="1">
                  <c:v>Q2</c:v>
                </c:pt>
                <c:pt idx="2">
                  <c:v>Q3</c:v>
                </c:pt>
                <c:pt idx="3">
                  <c:v>Q4</c:v>
                </c:pt>
                <c:pt idx="4">
                  <c:v>Q5</c:v>
                </c:pt>
              </c:strCache>
            </c:strRef>
          </c:cat>
          <c:val>
            <c:numRef>
              <c:f>Sheet1!$B$2:$B$6</c:f>
              <c:numCache>
                <c:formatCode>General</c:formatCode>
                <c:ptCount val="5"/>
                <c:pt idx="0">
                  <c:v>58</c:v>
                </c:pt>
                <c:pt idx="1">
                  <c:v>51.7</c:v>
                </c:pt>
                <c:pt idx="2">
                  <c:v>50.7</c:v>
                </c:pt>
                <c:pt idx="3">
                  <c:v>46.4</c:v>
                </c:pt>
                <c:pt idx="4">
                  <c:v>44.3</c:v>
                </c:pt>
              </c:numCache>
            </c:numRef>
          </c:val>
          <c:extLst>
            <c:ext xmlns:c16="http://schemas.microsoft.com/office/drawing/2014/chart" uri="{C3380CC4-5D6E-409C-BE32-E72D297353CC}">
              <c16:uniqueId val="{0000000A-0495-4339-8E1E-CAD0919EC40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E5767"/>
                </a:solidFill>
                <a:latin typeface="+mn-lt"/>
              </a:defRPr>
            </a:pPr>
            <a:endParaRPr lang="en-US"/>
          </a:p>
        </c:txPr>
        <c:crossAx val="2094734552"/>
        <c:crosses val="autoZero"/>
        <c:auto val="1"/>
        <c:lblAlgn val="ctr"/>
        <c:lblOffset val="100"/>
        <c:noMultiLvlLbl val="1"/>
      </c:catAx>
      <c:valAx>
        <c:axId val="2094734552"/>
        <c:scaling>
          <c:orientation val="minMax"/>
          <c:max val="7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D1B2E"/>
                </a:solidFill>
                <a:latin typeface="+mn-lt"/>
              </a:defRPr>
            </a:pPr>
            <a:r>
              <a:rPr lang="en-ID" sz="1400" b="1" i="0" u="none" strike="noStrike">
                <a:solidFill>
                  <a:srgbClr val="0D1B2E"/>
                </a:solidFill>
                <a:latin typeface="+mn-lt"/>
              </a:rPr>
              <a:t>Konversi lihat → beli per jam kunjungan, UTC (%)</a:t>
            </a:r>
          </a:p>
        </c:rich>
      </c:tx>
      <c:overlay val="0"/>
    </c:title>
    <c:autoTitleDeleted val="0"/>
    <c:plotArea>
      <c:layout/>
      <c:lineChart>
        <c:grouping val="standard"/>
        <c:varyColors val="0"/>
        <c:ser>
          <c:idx val="0"/>
          <c:order val="0"/>
          <c:tx>
            <c:strRef>
              <c:f>Sheet1!$B$1</c:f>
              <c:strCache>
                <c:ptCount val="1"/>
                <c:pt idx="0">
                  <c:v>Konversi lihat → beli per jam kunjungan, UTC (%)</c:v>
                </c:pt>
              </c:strCache>
            </c:strRef>
          </c:tx>
          <c:spPr>
            <a:ln w="38100" cap="flat">
              <a:solidFill>
                <a:srgbClr val="D9822B"/>
              </a:solidFill>
              <a:prstDash val="solid"/>
              <a:round/>
            </a:ln>
            <a:effectLst/>
          </c:spPr>
          <c:marker>
            <c:symbol val="circle"/>
            <c:size val="6"/>
            <c:spPr>
              <a:solidFill>
                <a:srgbClr val="D9822B"/>
              </a:solidFill>
              <a:ln w="9525" cap="flat">
                <a:solidFill>
                  <a:srgbClr val="D9822B"/>
                </a:solidFill>
                <a:prstDash val="solid"/>
                <a:round/>
              </a:ln>
              <a:effectLst/>
            </c:spPr>
          </c:marker>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3.78</c:v>
                </c:pt>
                <c:pt idx="1">
                  <c:v>3.48</c:v>
                </c:pt>
                <c:pt idx="2">
                  <c:v>3.57</c:v>
                </c:pt>
                <c:pt idx="3">
                  <c:v>4.0999999999999996</c:v>
                </c:pt>
                <c:pt idx="4">
                  <c:v>4.42</c:v>
                </c:pt>
                <c:pt idx="5">
                  <c:v>4.88</c:v>
                </c:pt>
                <c:pt idx="6">
                  <c:v>4.88</c:v>
                </c:pt>
                <c:pt idx="7">
                  <c:v>4.72</c:v>
                </c:pt>
                <c:pt idx="8">
                  <c:v>4.87</c:v>
                </c:pt>
                <c:pt idx="9">
                  <c:v>4.93</c:v>
                </c:pt>
                <c:pt idx="10">
                  <c:v>5.0199999999999996</c:v>
                </c:pt>
                <c:pt idx="11">
                  <c:v>4.7699999999999996</c:v>
                </c:pt>
                <c:pt idx="12">
                  <c:v>4.79</c:v>
                </c:pt>
                <c:pt idx="13">
                  <c:v>4.4800000000000004</c:v>
                </c:pt>
                <c:pt idx="14">
                  <c:v>4.8600000000000003</c:v>
                </c:pt>
                <c:pt idx="15">
                  <c:v>4.16</c:v>
                </c:pt>
                <c:pt idx="16">
                  <c:v>4.37</c:v>
                </c:pt>
                <c:pt idx="17">
                  <c:v>4.67</c:v>
                </c:pt>
                <c:pt idx="18">
                  <c:v>4.0599999999999996</c:v>
                </c:pt>
                <c:pt idx="19">
                  <c:v>4.59</c:v>
                </c:pt>
                <c:pt idx="20">
                  <c:v>4.22</c:v>
                </c:pt>
                <c:pt idx="21">
                  <c:v>4.03</c:v>
                </c:pt>
                <c:pt idx="22">
                  <c:v>3.84</c:v>
                </c:pt>
                <c:pt idx="23">
                  <c:v>3.89</c:v>
                </c:pt>
              </c:numCache>
            </c:numRef>
          </c:val>
          <c:smooth val="0"/>
          <c:extLst>
            <c:ext xmlns:c16="http://schemas.microsoft.com/office/drawing/2014/chart" uri="{C3380CC4-5D6E-409C-BE32-E72D297353CC}">
              <c16:uniqueId val="{00000000-B8B3-43C5-8820-E52054EE07A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E5767"/>
                </a:solidFill>
                <a:latin typeface="+mn-lt"/>
              </a:defRPr>
            </a:pPr>
            <a:endParaRPr lang="en-US"/>
          </a:p>
        </c:txPr>
        <c:crossAx val="2094734552"/>
        <c:crosses val="autoZero"/>
        <c:auto val="1"/>
        <c:lblAlgn val="ctr"/>
        <c:lblOffset val="100"/>
        <c:tickLblSkip val="3"/>
        <c:noMultiLvlLbl val="1"/>
      </c:catAx>
      <c:valAx>
        <c:axId val="2094734552"/>
        <c:scaling>
          <c:orientation val="minMax"/>
          <c:max val="6"/>
          <c:min val="2"/>
        </c:scaling>
        <c:delete val="0"/>
        <c:axPos val="l"/>
        <c:majorGridlines>
          <c:spPr>
            <a:ln w="6350" cap="flat">
              <a:solidFill>
                <a:srgbClr val="E8E6E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E5767"/>
                </a:solidFill>
                <a:latin typeface="+mn-lt"/>
              </a:defRPr>
            </a:pPr>
            <a:endParaRPr lang="en-US"/>
          </a:p>
        </c:txPr>
        <c:crossAx val="2094734554"/>
        <c:crosses val="autoZero"/>
        <c:crossBetween val="between"/>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D1B2E"/>
                </a:solidFill>
                <a:latin typeface="+mn-lt"/>
              </a:defRPr>
            </a:pPr>
            <a:r>
              <a:rPr lang="en-ID" sz="1400" b="1" i="0" u="none" strike="noStrike">
                <a:solidFill>
                  <a:srgbClr val="0D1B2E"/>
                </a:solidFill>
                <a:latin typeface="+mn-lt"/>
              </a:rPr>
              <a:t>Konversi lihat → beli mingguan (%)</a:t>
            </a:r>
          </a:p>
        </c:rich>
      </c:tx>
      <c:overlay val="0"/>
    </c:title>
    <c:autoTitleDeleted val="0"/>
    <c:plotArea>
      <c:layout/>
      <c:lineChart>
        <c:grouping val="standard"/>
        <c:varyColors val="0"/>
        <c:ser>
          <c:idx val="0"/>
          <c:order val="0"/>
          <c:tx>
            <c:strRef>
              <c:f>Sheet1!$B$1</c:f>
              <c:strCache>
                <c:ptCount val="1"/>
                <c:pt idx="0">
                  <c:v>Konversi lihat → beli mingguan (%)</c:v>
                </c:pt>
              </c:strCache>
            </c:strRef>
          </c:tx>
          <c:spPr>
            <a:ln w="38100" cap="flat">
              <a:solidFill>
                <a:srgbClr val="3D6EA5"/>
              </a:solidFill>
              <a:prstDash val="solid"/>
              <a:round/>
            </a:ln>
            <a:effectLst/>
          </c:spPr>
          <c:marker>
            <c:symbol val="circle"/>
            <c:size val="6"/>
            <c:spPr>
              <a:solidFill>
                <a:srgbClr val="3D6EA5"/>
              </a:solidFill>
              <a:ln w="9525" cap="flat">
                <a:solidFill>
                  <a:srgbClr val="3D6EA5"/>
                </a:solidFill>
                <a:prstDash val="solid"/>
                <a:round/>
              </a:ln>
              <a:effectLst/>
            </c:spPr>
          </c:marker>
          <c:cat>
            <c:strRef>
              <c:f>Sheet1!$A$2:$A$24</c:f>
              <c:strCache>
                <c:ptCount val="23"/>
                <c:pt idx="0">
                  <c:v>21 Sep</c:v>
                </c:pt>
                <c:pt idx="1">
                  <c:v>28 Sep</c:v>
                </c:pt>
                <c:pt idx="2">
                  <c:v>05 Oct</c:v>
                </c:pt>
                <c:pt idx="3">
                  <c:v>12 Oct</c:v>
                </c:pt>
                <c:pt idx="4">
                  <c:v>19 Oct</c:v>
                </c:pt>
                <c:pt idx="5">
                  <c:v>26 Oct</c:v>
                </c:pt>
                <c:pt idx="6">
                  <c:v>02 Nov</c:v>
                </c:pt>
                <c:pt idx="7">
                  <c:v>09 Nov</c:v>
                </c:pt>
                <c:pt idx="8">
                  <c:v>16 Nov</c:v>
                </c:pt>
                <c:pt idx="9">
                  <c:v>23 Nov</c:v>
                </c:pt>
                <c:pt idx="10">
                  <c:v>30 Nov</c:v>
                </c:pt>
                <c:pt idx="11">
                  <c:v>07 Dec</c:v>
                </c:pt>
                <c:pt idx="12">
                  <c:v>14 Dec</c:v>
                </c:pt>
                <c:pt idx="13">
                  <c:v>21 Dec</c:v>
                </c:pt>
                <c:pt idx="14">
                  <c:v>28 Dec</c:v>
                </c:pt>
                <c:pt idx="15">
                  <c:v>04 Jan</c:v>
                </c:pt>
                <c:pt idx="16">
                  <c:v>11 Jan</c:v>
                </c:pt>
                <c:pt idx="17">
                  <c:v>18 Jan</c:v>
                </c:pt>
                <c:pt idx="18">
                  <c:v>25 Jan</c:v>
                </c:pt>
                <c:pt idx="19">
                  <c:v>01 Feb</c:v>
                </c:pt>
                <c:pt idx="20">
                  <c:v>08 Feb</c:v>
                </c:pt>
                <c:pt idx="21">
                  <c:v>15 Feb</c:v>
                </c:pt>
                <c:pt idx="22">
                  <c:v>22 Feb</c:v>
                </c:pt>
              </c:strCache>
            </c:strRef>
          </c:cat>
          <c:val>
            <c:numRef>
              <c:f>Sheet1!$B$2:$B$24</c:f>
              <c:numCache>
                <c:formatCode>General</c:formatCode>
                <c:ptCount val="23"/>
                <c:pt idx="0">
                  <c:v>3.53</c:v>
                </c:pt>
                <c:pt idx="1">
                  <c:v>4.16</c:v>
                </c:pt>
                <c:pt idx="2">
                  <c:v>4.08</c:v>
                </c:pt>
                <c:pt idx="3">
                  <c:v>3.8</c:v>
                </c:pt>
                <c:pt idx="4">
                  <c:v>3.85</c:v>
                </c:pt>
                <c:pt idx="5">
                  <c:v>3.62</c:v>
                </c:pt>
                <c:pt idx="6">
                  <c:v>3.95</c:v>
                </c:pt>
                <c:pt idx="7">
                  <c:v>4.17</c:v>
                </c:pt>
                <c:pt idx="8">
                  <c:v>4.1900000000000004</c:v>
                </c:pt>
                <c:pt idx="9">
                  <c:v>4.2300000000000004</c:v>
                </c:pt>
                <c:pt idx="10">
                  <c:v>4.18</c:v>
                </c:pt>
                <c:pt idx="11">
                  <c:v>4.16</c:v>
                </c:pt>
                <c:pt idx="12">
                  <c:v>5.18</c:v>
                </c:pt>
                <c:pt idx="13">
                  <c:v>5.05</c:v>
                </c:pt>
                <c:pt idx="14">
                  <c:v>4.6900000000000004</c:v>
                </c:pt>
                <c:pt idx="15">
                  <c:v>4.78</c:v>
                </c:pt>
                <c:pt idx="16">
                  <c:v>5.4</c:v>
                </c:pt>
                <c:pt idx="17">
                  <c:v>5.77</c:v>
                </c:pt>
                <c:pt idx="18">
                  <c:v>4.84</c:v>
                </c:pt>
                <c:pt idx="19">
                  <c:v>4.34</c:v>
                </c:pt>
                <c:pt idx="20">
                  <c:v>5.43</c:v>
                </c:pt>
                <c:pt idx="21">
                  <c:v>5.36</c:v>
                </c:pt>
                <c:pt idx="22">
                  <c:v>5.01</c:v>
                </c:pt>
              </c:numCache>
            </c:numRef>
          </c:val>
          <c:smooth val="0"/>
          <c:extLst>
            <c:ext xmlns:c16="http://schemas.microsoft.com/office/drawing/2014/chart" uri="{C3380CC4-5D6E-409C-BE32-E72D297353CC}">
              <c16:uniqueId val="{00000000-1948-4EC1-BEC1-82DD74E0AB6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E5767"/>
                </a:solidFill>
                <a:latin typeface="+mn-lt"/>
              </a:defRPr>
            </a:pPr>
            <a:endParaRPr lang="en-US"/>
          </a:p>
        </c:txPr>
        <c:crossAx val="2094734552"/>
        <c:crosses val="autoZero"/>
        <c:auto val="1"/>
        <c:lblAlgn val="ctr"/>
        <c:lblOffset val="100"/>
        <c:tickLblSkip val="4"/>
        <c:noMultiLvlLbl val="1"/>
      </c:catAx>
      <c:valAx>
        <c:axId val="2094734552"/>
        <c:scaling>
          <c:orientation val="minMax"/>
          <c:max val="7"/>
          <c:min val="2"/>
        </c:scaling>
        <c:delete val="0"/>
        <c:axPos val="l"/>
        <c:majorGridlines>
          <c:spPr>
            <a:ln w="6350" cap="flat">
              <a:solidFill>
                <a:srgbClr val="E8E6E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E5767"/>
                </a:solidFill>
                <a:latin typeface="+mn-lt"/>
              </a:defRPr>
            </a:pPr>
            <a:endParaRPr lang="en-US"/>
          </a:p>
        </c:txPr>
        <c:crossAx val="2094734554"/>
        <c:crosses val="autoZero"/>
        <c:crossBetween val="between"/>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1356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My name is Frederick Rianto Putra, and this is my take home test for the Data Analyst program at Dibimbing. My project asks one question: why do most visitors who look at products in an online electronics store never complete a purchase from their cart? Only 4.6 percent of sessions end that way. I will show where we lose sessions, who these visitors are, and what the store can test to improve.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I will start with a short introduction and my bootcamp projects. Then I will explain the business problem and how I prepared the data. The main part is section five, where I answer four business questions. I will finish with the dashboard, the recommendations, and the limits of this analysis.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a Computer Science graduate from Telkom University Purwokerto, with a GPA of 3.75. I enjoy data analysis and machine learning, and I mostly work with Python, SQL, and Power BI. Before this bootcamp, I joined the Machine Learning cohort at Bangkit Academy in 2024. Now I am in the Data Analyst bootcamp at Dibimbing, and my goal is to work as a Data Analyst.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bootcamp I worked on four projects. First, an employee attrition analysis on 4,410 employees, where I used statistical tests and a logistic regression with an AUC of 0.778. Second, a job satisfaction analysis from survey data. Third, customer segmentation with RFM and customer lifetime value on the Superstore dataset. The fourth is today's main project.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store records every view, cart, and purchase. We have 885,129 events, and 269,858 sessions with at least one product view. Only 4.6 percent of these sessions buy from the cart. This matters because raising conversion a little adds revenue without paying for new traffic. The marketing team, the product team, and management can all use these results.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problem is simple. Why do 95.4 percent of sessions that view products not end with a purchase from the cart, where do we lose them, and what can the store change? I split this into four questions: how big is the problem, who does not buy, what do they look at and when, and which factors separate buyers from non-buyers. Conversion equals the chance to reach the cart times the chance to buy from the cart, so I report both steps.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approach has four steps. Descriptive analysis measures the funnel. Diagnostic analysis compares conversion across groups. An explanatory model, a logistic regression, ranks the factors for two stages. Finally, I turn the findings into recommendations that can be tested with A/B tests. I treat all findings as associations, not proof of cause.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comes from the REES46 platform on Kaggle. It has 885,129 events from September 2020 to February 2021. Views are almost 90 percent of all events. About 27 percent of rows have no category and 24 percent have no brand. There are 655 duplicates and no invalid prices.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cleaning, I removed duplicates and invalid rows. I also deleted rows with a missing category or brand, instead of filling them. A missing value belongs to the whole product, so this removes all events of that product. Some sessions then lost their cart or purchase event and would look like view-only sessions, so I removed those sessions too. I kept price outliers because premium components are valid products.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analysis I checked the session ID. 87 percent of users have only one session, and only 6.5 percent of sessions last more than 30 minutes. I rebuilt the sessions with a 30-minute gap, and conversion was almost the same, 4.59 percent versus 4.56 percent. So I keep the original session ID.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one. Only 4.6 percent of sessions buy from the cart. The funnel shows 269,858 sessions with a view, 24,952 that add to the cart, and 12,296 that buy. That is 9.2 percent times 49.3 percent. So we lose sessions at two points: 90.8 percent never reach the cart, and about half of the cart sessions do not buy.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two: who does not buy? Most sessions, 76.8 percent, have only one view, and they convert at 3.9 percent. Conversion rises to 5.8 percent with two views and 10.1 percent with more than ten. The increase comes mostly from reaching the cart. Buying from the cart improves only after six views.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Returning visitors convert at 8.7 percent, against 3.7 percent for first visits. They reach the cart more often, and they also buy more often from the cart. The biggest segment is first visit with one view: 64 percent of sessions, converting at only 3.1 percent. The best segment is returning visitors with two or more views, at 10 percent. This is an association, because people who want to buy also browse more.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three: what do they look at? Products that are viewed least convert at 2.2 percent, compared with 7.7 percent for the most popular ones. Popular products reach the cart often, but their carts are abandoned more, with only 46.8 percent bought. By category, computers convert at 6.3 percent and stationery at 5 percent, while appliances are the lowest at 2.2 percent.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tells two different stories. Across the whole funnel, conversion increases with price, because expensive products reach the cart more often. But after the cart it reverses. The cheapest quintile buys 58 percent of its carts, and the most expensive only 44.3 percent. So price does not stop people at the start, but it is linked to abandoned carts.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has a small effect. Hourly conversion ranges from 3.5 to 5.0 percent, and daily conversion from 4.3 to 4.7 percent. The weekly trend rises from about 3.9 percent in autumn to 5.1 percent in January and February. I cannot tell the cause from this data, and the first and last weeks are partial.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four key findings. One, only 4.6 percent of sessions buy, and we lose them at two points. Two, new visitors with one product convert at 3.1 percent, against 10 percent for returning visitors with several views. Three, long tail products convert at 2.2 percent, against 7.7 percent for popular ones. Four, expensive carts are abandoned more: 44.3 percent are bought versus 58 percent for cheap ones. All of these are associations.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Power BI dashboard, with three pages. Page one shows the funnel and the key numbers. Page two shows who does not buy: browsing depth, first or returning visit, and segments. Page three shows what they look at and when. You can filter by category and by visit type. I can show the dashboard live if you like.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five recommendations, and each should be tested with an A/B test. First, reduce abandoned carts: send a quick reminder inside the session, show the full cost clearly, and offer payment options for expensive carts. If ten percent of abandoned carts became purchases, we would add about 1,270 purchases. Second, promote long tail products with recommendations and bundles. Moving them to the next level adds about 750 purchases. Third, help first-time visitors browse by showing similar products. If ten percent of them move to two or more views, we add about 470 purchases. These numbers are scenarios, not predictions.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am happy to answer your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links to the dataset, the notebook, and the dashboard are on this last slide. Thank you.</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2EFE8"/>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rtlCol="0"/>
          <a:lstStyle>
            <a:lvl1pPr marL="0" indent="0" algn="l">
              <a:buNone/>
              <a:defRPr lang="en-US" sz="1400" b="1" dirty="0">
                <a:solidFill>
                  <a:schemeClr val="accent2"/>
                </a:solidFill>
              </a:defRPr>
            </a:lvl1pPr>
          </a:lstStyle>
          <a:p>
            <a:pPr marL="0" indent="0" algn="l">
              <a:buNone/>
            </a:pP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rtlCol="0"/>
          <a:lstStyle>
            <a:lvl1pPr marL="0" indent="0" algn="l">
              <a:buNone/>
              <a:defRPr lang="en-US" sz="3000"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D1B2E"/>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rtlCol="0"/>
          <a:lstStyle>
            <a:lvl1pPr marL="0" indent="0" algn="l">
              <a:buNone/>
              <a:defRPr lang="en-US" sz="1400" b="1" dirty="0">
                <a:solidFill>
                  <a:schemeClr val="accent3"/>
                </a:solidFill>
              </a:defRPr>
            </a:lvl1pPr>
          </a:lstStyle>
          <a:p>
            <a:pPr marL="0" indent="0" algn="l">
              <a:buNone/>
            </a:pP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rtlCol="0"/>
          <a:lstStyle>
            <a:lvl1pPr marL="0" indent="0" algn="l">
              <a:buNone/>
              <a:defRPr lang="en-US" sz="3000"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F2EFE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011680"/>
            <a:ext cx="6949440" cy="2011680"/>
          </a:xfrm>
          <a:prstGeom prst="rect">
            <a:avLst/>
          </a:prstGeom>
          <a:noFill/>
          <a:ln/>
        </p:spPr>
        <p:txBody>
          <a:bodyPr wrap="square" rtlCol="0"/>
          <a:lstStyle>
            <a:lvl1pPr marL="0" indent="0" algn="l">
              <a:buNone/>
              <a:defRPr lang="en-US" sz="4000" dirty="0">
                <a:solidFill>
                  <a:schemeClr val="tx2"/>
                </a:solidFill>
              </a:defRPr>
            </a:lvl1pPr>
          </a:lstStyle>
          <a:p>
            <a:pPr marL="0" indent="0" algn="l">
              <a:buNone/>
            </a:pPr>
            <a:endParaRPr lang="en-US" sz="4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ND">
    <p:bg>
      <p:bgPr>
        <a:solidFill>
          <a:srgbClr val="0D1B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77440"/>
            <a:ext cx="10058400" cy="1097280"/>
          </a:xfrm>
          <a:prstGeom prst="rect">
            <a:avLst/>
          </a:prstGeom>
          <a:noFill/>
          <a:ln/>
        </p:spPr>
        <p:txBody>
          <a:bodyPr wrap="square" rtlCol="0"/>
          <a:lstStyle>
            <a:lvl1pPr marL="0" indent="0" algn="l">
              <a:buNone/>
              <a:defRPr lang="en-US" sz="4800" dirty="0">
                <a:solidFill>
                  <a:schemeClr val="bg1"/>
                </a:solidFill>
              </a:defRPr>
            </a:lvl1pPr>
          </a:lstStyle>
          <a:p>
            <a:pPr marL="0" indent="0" algn="l">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chart" Target="../charts/chart5.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1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16.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chart" Target="../charts/char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011680"/>
            <a:ext cx="6949440" cy="2011680"/>
          </a:xfrm>
          <a:prstGeom prst="rect">
            <a:avLst/>
          </a:prstGeom>
          <a:noFill/>
          <a:ln/>
        </p:spPr>
        <p:txBody>
          <a:bodyPr wrap="square" lIns="0" tIns="0" rIns="0" bIns="0" rtlCol="0" anchor="t"/>
          <a:lstStyle/>
          <a:p>
            <a:pPr marL="0" indent="0" algn="l">
              <a:buNone/>
            </a:pPr>
            <a:r>
              <a:rPr lang="en-US" sz="4000" dirty="0">
                <a:solidFill>
                  <a:schemeClr val="tx2"/>
                </a:solidFill>
              </a:rPr>
              <a:t>Mengapa Sebagian Besar Pengunjung Tidak Membeli?</a:t>
            </a:r>
            <a:endParaRPr lang="en-US" sz="4000" dirty="0"/>
          </a:p>
        </p:txBody>
      </p:sp>
      <p:pic>
        <p:nvPicPr>
          <p:cNvPr id="4" name="Image 0" descr="Logo Dibimbing"/>
          <p:cNvPicPr>
            <a:picLocks noChangeAspect="1"/>
          </p:cNvPicPr>
          <p:nvPr/>
        </p:nvPicPr>
        <p:blipFill>
          <a:blip r:embed="rId3"/>
          <a:stretch>
            <a:fillRect/>
          </a:stretch>
        </p:blipFill>
        <p:spPr>
          <a:xfrm>
            <a:off x="9646920" y="411480"/>
            <a:ext cx="1920240" cy="648310"/>
          </a:xfrm>
          <a:prstGeom prst="rect">
            <a:avLst/>
          </a:prstGeom>
        </p:spPr>
      </p:pic>
      <p:sp>
        <p:nvSpPr>
          <p:cNvPr id="5" name="Text 1"/>
          <p:cNvSpPr txBox="1"/>
          <p:nvPr/>
        </p:nvSpPr>
        <p:spPr>
          <a:xfrm>
            <a:off x="822960" y="4069080"/>
            <a:ext cx="6949440" cy="731520"/>
          </a:xfrm>
          <a:prstGeom prst="rect">
            <a:avLst/>
          </a:prstGeom>
          <a:noFill/>
          <a:ln/>
        </p:spPr>
        <p:txBody>
          <a:bodyPr wrap="square" lIns="0" tIns="0" rIns="0" bIns="0" rtlCol="0" anchor="t"/>
          <a:lstStyle/>
          <a:p>
            <a:pPr marL="0" indent="0">
              <a:buNone/>
            </a:pPr>
            <a:r>
              <a:rPr lang="en-US" sz="1800" dirty="0">
                <a:solidFill>
                  <a:srgbClr val="4E5767"/>
                </a:solidFill>
              </a:rPr>
              <a:t>Dari Lihat Produk ke Beli dari Keranjang: Analisis Funnel Toko Elektronik Online</a:t>
            </a:r>
            <a:endParaRPr lang="en-US" sz="1800" dirty="0"/>
          </a:p>
        </p:txBody>
      </p:sp>
      <p:sp>
        <p:nvSpPr>
          <p:cNvPr id="6" name="Text 2"/>
          <p:cNvSpPr txBox="1"/>
          <p:nvPr/>
        </p:nvSpPr>
        <p:spPr>
          <a:xfrm>
            <a:off x="822960" y="5029200"/>
            <a:ext cx="6949440" cy="320040"/>
          </a:xfrm>
          <a:prstGeom prst="rect">
            <a:avLst/>
          </a:prstGeom>
          <a:noFill/>
          <a:ln/>
        </p:spPr>
        <p:txBody>
          <a:bodyPr wrap="square" lIns="0" tIns="0" rIns="0" bIns="0" rtlCol="0" anchor="t"/>
          <a:lstStyle/>
          <a:p>
            <a:pPr marL="0" indent="0">
              <a:buNone/>
            </a:pPr>
            <a:r>
              <a:rPr lang="en-US" sz="1400" b="1" dirty="0">
                <a:solidFill>
                  <a:schemeClr val="tx2"/>
                </a:solidFill>
              </a:rPr>
              <a:t>Frederick Rianto Putra  |  Data Analyst Bootcamp, Dibimbing</a:t>
            </a:r>
            <a:endParaRPr lang="en-US" sz="1400" dirty="0"/>
          </a:p>
        </p:txBody>
      </p:sp>
      <p:sp>
        <p:nvSpPr>
          <p:cNvPr id="7" name="Text 3"/>
          <p:cNvSpPr txBox="1"/>
          <p:nvPr/>
        </p:nvSpPr>
        <p:spPr>
          <a:xfrm>
            <a:off x="822960" y="5376672"/>
            <a:ext cx="6949440" cy="320040"/>
          </a:xfrm>
          <a:prstGeom prst="rect">
            <a:avLst/>
          </a:prstGeom>
          <a:noFill/>
          <a:ln/>
        </p:spPr>
        <p:txBody>
          <a:bodyPr wrap="square" lIns="0" tIns="0" rIns="0" bIns="0" rtlCol="0" anchor="t"/>
          <a:lstStyle/>
          <a:p>
            <a:pPr marL="0" indent="0">
              <a:buNone/>
            </a:pPr>
            <a:r>
              <a:rPr lang="en-US" sz="1400" dirty="0">
                <a:solidFill>
                  <a:srgbClr val="4E5767"/>
                </a:solidFill>
              </a:rPr>
              <a:t>Take Home Test Data Analyst  |  Exam Penyaluran Kerja</a:t>
            </a:r>
            <a:endParaRPr lang="en-US" sz="1400" dirty="0"/>
          </a:p>
        </p:txBody>
      </p:sp>
      <p:sp>
        <p:nvSpPr>
          <p:cNvPr id="8" name="cover-stat"/>
          <p:cNvSpPr/>
          <p:nvPr/>
        </p:nvSpPr>
        <p:spPr>
          <a:xfrm>
            <a:off x="8321040" y="2103120"/>
            <a:ext cx="3246120" cy="2926080"/>
          </a:xfrm>
          <a:prstGeom prst="roundRect">
            <a:avLst>
              <a:gd name="adj" fmla="val 2500"/>
            </a:avLst>
          </a:prstGeom>
          <a:solidFill>
            <a:schemeClr val="tx2"/>
          </a:solidFill>
          <a:ln w="9525">
            <a:solidFill>
              <a:schemeClr val="accent6"/>
            </a:solidFill>
            <a:prstDash val="solid"/>
          </a:ln>
        </p:spPr>
      </p:sp>
      <p:sp>
        <p:nvSpPr>
          <p:cNvPr id="9" name="Text 5"/>
          <p:cNvSpPr txBox="1"/>
          <p:nvPr/>
        </p:nvSpPr>
        <p:spPr>
          <a:xfrm>
            <a:off x="8321040" y="2423160"/>
            <a:ext cx="3246120" cy="1097280"/>
          </a:xfrm>
          <a:prstGeom prst="rect">
            <a:avLst/>
          </a:prstGeom>
          <a:noFill/>
          <a:ln/>
        </p:spPr>
        <p:txBody>
          <a:bodyPr wrap="square" lIns="0" tIns="0" rIns="0" bIns="0" rtlCol="0" anchor="ctr"/>
          <a:lstStyle/>
          <a:p>
            <a:pPr marL="0" indent="0" algn="ctr">
              <a:buNone/>
            </a:pPr>
            <a:r>
              <a:rPr lang="en-US" sz="6000" b="1" dirty="0">
                <a:solidFill>
                  <a:schemeClr val="accent2"/>
                </a:solidFill>
              </a:rPr>
              <a:t>4,6%</a:t>
            </a:r>
            <a:endParaRPr lang="en-US" sz="6000" dirty="0"/>
          </a:p>
        </p:txBody>
      </p:sp>
      <p:sp>
        <p:nvSpPr>
          <p:cNvPr id="10" name="Text 6"/>
          <p:cNvSpPr txBox="1"/>
          <p:nvPr/>
        </p:nvSpPr>
        <p:spPr>
          <a:xfrm>
            <a:off x="8595360" y="3611880"/>
            <a:ext cx="2697480" cy="822960"/>
          </a:xfrm>
          <a:prstGeom prst="rect">
            <a:avLst/>
          </a:prstGeom>
          <a:noFill/>
          <a:ln/>
        </p:spPr>
        <p:txBody>
          <a:bodyPr wrap="square" lIns="0" tIns="0" rIns="0" bIns="0" rtlCol="0" anchor="t"/>
          <a:lstStyle/>
          <a:p>
            <a:pPr marL="0" indent="0" algn="ctr">
              <a:buNone/>
            </a:pPr>
            <a:r>
              <a:rPr lang="en-US" sz="1400" dirty="0">
                <a:solidFill>
                  <a:schemeClr val="bg1"/>
                </a:solidFill>
              </a:rPr>
              <a:t>sesi yang melihat produk berakhir membeli dari keranjang</a:t>
            </a:r>
            <a:endParaRPr lang="en-US" sz="1400" dirty="0"/>
          </a:p>
        </p:txBody>
      </p:sp>
      <p:sp>
        <p:nvSpPr>
          <p:cNvPr id="11" name="Text 7"/>
          <p:cNvSpPr txBox="1"/>
          <p:nvPr/>
        </p:nvSpPr>
        <p:spPr>
          <a:xfrm>
            <a:off x="8595360" y="4434840"/>
            <a:ext cx="2697480" cy="411480"/>
          </a:xfrm>
          <a:prstGeom prst="rect">
            <a:avLst/>
          </a:prstGeom>
          <a:noFill/>
          <a:ln/>
        </p:spPr>
        <p:txBody>
          <a:bodyPr wrap="square" lIns="0" tIns="0" rIns="0" bIns="0" rtlCol="0" anchor="t"/>
          <a:lstStyle/>
          <a:p>
            <a:pPr marL="0" indent="0" algn="ctr">
              <a:buNone/>
            </a:pPr>
            <a:r>
              <a:rPr lang="en-US" sz="1100" dirty="0">
                <a:solidFill>
                  <a:schemeClr val="accent4"/>
                </a:solidFill>
              </a:rPr>
              <a:t>269.858 sesi, 24 Sep 2020 sampai 28 Feb 2021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tx2"/>
                </a:solidFill>
              </a:rPr>
              <a:t>Contents</a:t>
            </a:r>
            <a:endParaRPr lang="en-US" sz="3000" dirty="0"/>
          </a:p>
        </p:txBody>
      </p:sp>
      <p:sp>
        <p:nvSpPr>
          <p:cNvPr id="4" name="Text 1"/>
          <p:cNvSpPr txBox="1"/>
          <p:nvPr/>
        </p:nvSpPr>
        <p:spPr>
          <a:xfrm>
            <a:off x="640080" y="2103120"/>
            <a:ext cx="1371600" cy="640080"/>
          </a:xfrm>
          <a:prstGeom prst="rect">
            <a:avLst/>
          </a:prstGeom>
          <a:noFill/>
          <a:ln/>
        </p:spPr>
        <p:txBody>
          <a:bodyPr wrap="square" lIns="0" tIns="0" rIns="0" bIns="0" rtlCol="0" anchor="t"/>
          <a:lstStyle/>
          <a:p>
            <a:pPr marL="0" indent="0">
              <a:buNone/>
            </a:pPr>
            <a:r>
              <a:rPr lang="en-US" sz="3600" b="1" dirty="0">
                <a:solidFill>
                  <a:schemeClr val="accent1"/>
                </a:solidFill>
              </a:rPr>
              <a:t>01</a:t>
            </a:r>
            <a:endParaRPr lang="en-US" sz="3600" dirty="0"/>
          </a:p>
        </p:txBody>
      </p:sp>
      <p:sp>
        <p:nvSpPr>
          <p:cNvPr id="5" name="Text 2"/>
          <p:cNvSpPr txBox="1"/>
          <p:nvPr/>
        </p:nvSpPr>
        <p:spPr>
          <a:xfrm>
            <a:off x="640080" y="2834640"/>
            <a:ext cx="3291840" cy="320040"/>
          </a:xfrm>
          <a:prstGeom prst="rect">
            <a:avLst/>
          </a:prstGeom>
          <a:noFill/>
          <a:ln/>
        </p:spPr>
        <p:txBody>
          <a:bodyPr wrap="square" lIns="0" tIns="0" rIns="0" bIns="0" rtlCol="0" anchor="t"/>
          <a:lstStyle/>
          <a:p>
            <a:pPr marL="0" indent="0">
              <a:buNone/>
            </a:pPr>
            <a:r>
              <a:rPr lang="en-US" sz="1800" b="1" dirty="0">
                <a:solidFill>
                  <a:schemeClr val="tx2"/>
                </a:solidFill>
              </a:rPr>
              <a:t>Introduction</a:t>
            </a:r>
            <a:endParaRPr lang="en-US" sz="1800" dirty="0"/>
          </a:p>
        </p:txBody>
      </p:sp>
      <p:sp>
        <p:nvSpPr>
          <p:cNvPr id="6" name="Text 3"/>
          <p:cNvSpPr txBox="1"/>
          <p:nvPr/>
        </p:nvSpPr>
        <p:spPr>
          <a:xfrm>
            <a:off x="640080" y="3200400"/>
            <a:ext cx="3291840" cy="548640"/>
          </a:xfrm>
          <a:prstGeom prst="rect">
            <a:avLst/>
          </a:prstGeom>
          <a:noFill/>
          <a:ln/>
        </p:spPr>
        <p:txBody>
          <a:bodyPr wrap="square" lIns="0" tIns="0" rIns="0" bIns="0" rtlCol="0" anchor="t"/>
          <a:lstStyle/>
          <a:p>
            <a:pPr marL="0" indent="0">
              <a:buNone/>
            </a:pPr>
            <a:r>
              <a:rPr lang="en-US" sz="1400" dirty="0">
                <a:solidFill>
                  <a:srgbClr val="4E5767"/>
                </a:solidFill>
              </a:rPr>
              <a:t>Self-overview, education, working</a:t>
            </a:r>
            <a:endParaRPr lang="en-US" sz="1400" dirty="0"/>
          </a:p>
        </p:txBody>
      </p:sp>
      <p:sp>
        <p:nvSpPr>
          <p:cNvPr id="7" name="Text 4"/>
          <p:cNvSpPr txBox="1"/>
          <p:nvPr/>
        </p:nvSpPr>
        <p:spPr>
          <a:xfrm>
            <a:off x="4297680" y="2103120"/>
            <a:ext cx="1371600" cy="640080"/>
          </a:xfrm>
          <a:prstGeom prst="rect">
            <a:avLst/>
          </a:prstGeom>
          <a:noFill/>
          <a:ln/>
        </p:spPr>
        <p:txBody>
          <a:bodyPr wrap="square" lIns="0" tIns="0" rIns="0" bIns="0" rtlCol="0" anchor="t"/>
          <a:lstStyle/>
          <a:p>
            <a:pPr marL="0" indent="0">
              <a:buNone/>
            </a:pPr>
            <a:r>
              <a:rPr lang="en-US" sz="3600" b="1" dirty="0">
                <a:solidFill>
                  <a:schemeClr val="accent1"/>
                </a:solidFill>
              </a:rPr>
              <a:t>02</a:t>
            </a:r>
            <a:endParaRPr lang="en-US" sz="3600" dirty="0"/>
          </a:p>
        </p:txBody>
      </p:sp>
      <p:sp>
        <p:nvSpPr>
          <p:cNvPr id="8" name="Text 5"/>
          <p:cNvSpPr txBox="1"/>
          <p:nvPr/>
        </p:nvSpPr>
        <p:spPr>
          <a:xfrm>
            <a:off x="4297680" y="2834640"/>
            <a:ext cx="3291840" cy="320040"/>
          </a:xfrm>
          <a:prstGeom prst="rect">
            <a:avLst/>
          </a:prstGeom>
          <a:noFill/>
          <a:ln/>
        </p:spPr>
        <p:txBody>
          <a:bodyPr wrap="square" lIns="0" tIns="0" rIns="0" bIns="0" rtlCol="0" anchor="t"/>
          <a:lstStyle/>
          <a:p>
            <a:pPr marL="0" indent="0">
              <a:buNone/>
            </a:pPr>
            <a:r>
              <a:rPr lang="en-US" sz="1800" b="1" dirty="0">
                <a:solidFill>
                  <a:schemeClr val="tx2"/>
                </a:solidFill>
              </a:rPr>
              <a:t>Overview Project</a:t>
            </a:r>
            <a:endParaRPr lang="en-US" sz="1800" dirty="0"/>
          </a:p>
        </p:txBody>
      </p:sp>
      <p:sp>
        <p:nvSpPr>
          <p:cNvPr id="9" name="Text 6"/>
          <p:cNvSpPr txBox="1"/>
          <p:nvPr/>
        </p:nvSpPr>
        <p:spPr>
          <a:xfrm>
            <a:off x="4297680" y="3200400"/>
            <a:ext cx="3291840" cy="548640"/>
          </a:xfrm>
          <a:prstGeom prst="rect">
            <a:avLst/>
          </a:prstGeom>
          <a:noFill/>
          <a:ln/>
        </p:spPr>
        <p:txBody>
          <a:bodyPr wrap="square" lIns="0" tIns="0" rIns="0" bIns="0" rtlCol="0" anchor="t"/>
          <a:lstStyle/>
          <a:p>
            <a:pPr marL="0" indent="0">
              <a:buNone/>
            </a:pPr>
            <a:r>
              <a:rPr lang="en-US" sz="1400" dirty="0">
                <a:solidFill>
                  <a:srgbClr val="4E5767"/>
                </a:solidFill>
              </a:rPr>
              <a:t>Proyek yang dikerjakan selama bootcamp</a:t>
            </a:r>
            <a:endParaRPr lang="en-US" sz="1400" dirty="0"/>
          </a:p>
        </p:txBody>
      </p:sp>
      <p:sp>
        <p:nvSpPr>
          <p:cNvPr id="10" name="Text 7"/>
          <p:cNvSpPr txBox="1"/>
          <p:nvPr/>
        </p:nvSpPr>
        <p:spPr>
          <a:xfrm>
            <a:off x="7955280" y="2103120"/>
            <a:ext cx="1371600" cy="640080"/>
          </a:xfrm>
          <a:prstGeom prst="rect">
            <a:avLst/>
          </a:prstGeom>
          <a:noFill/>
          <a:ln/>
        </p:spPr>
        <p:txBody>
          <a:bodyPr wrap="square" lIns="0" tIns="0" rIns="0" bIns="0" rtlCol="0" anchor="t"/>
          <a:lstStyle/>
          <a:p>
            <a:pPr marL="0" indent="0">
              <a:buNone/>
            </a:pPr>
            <a:r>
              <a:rPr lang="en-US" sz="3600" b="1" dirty="0">
                <a:solidFill>
                  <a:schemeClr val="accent1"/>
                </a:solidFill>
              </a:rPr>
              <a:t>03</a:t>
            </a:r>
            <a:endParaRPr lang="en-US" sz="3600" dirty="0"/>
          </a:p>
        </p:txBody>
      </p:sp>
      <p:sp>
        <p:nvSpPr>
          <p:cNvPr id="11" name="Text 8"/>
          <p:cNvSpPr txBox="1"/>
          <p:nvPr/>
        </p:nvSpPr>
        <p:spPr>
          <a:xfrm>
            <a:off x="7955280" y="2834640"/>
            <a:ext cx="3291840" cy="320040"/>
          </a:xfrm>
          <a:prstGeom prst="rect">
            <a:avLst/>
          </a:prstGeom>
          <a:noFill/>
          <a:ln/>
        </p:spPr>
        <p:txBody>
          <a:bodyPr wrap="square" lIns="0" tIns="0" rIns="0" bIns="0" rtlCol="0" anchor="t"/>
          <a:lstStyle/>
          <a:p>
            <a:pPr marL="0" indent="0">
              <a:buNone/>
            </a:pPr>
            <a:r>
              <a:rPr lang="en-US" sz="1800" b="1" dirty="0">
                <a:solidFill>
                  <a:schemeClr val="tx2"/>
                </a:solidFill>
              </a:rPr>
              <a:t>Business Problem</a:t>
            </a:r>
            <a:endParaRPr lang="en-US" sz="1800" dirty="0"/>
          </a:p>
        </p:txBody>
      </p:sp>
      <p:sp>
        <p:nvSpPr>
          <p:cNvPr id="12" name="Text 9"/>
          <p:cNvSpPr txBox="1"/>
          <p:nvPr/>
        </p:nvSpPr>
        <p:spPr>
          <a:xfrm>
            <a:off x="7955280" y="3200400"/>
            <a:ext cx="3291840" cy="548640"/>
          </a:xfrm>
          <a:prstGeom prst="rect">
            <a:avLst/>
          </a:prstGeom>
          <a:noFill/>
          <a:ln/>
        </p:spPr>
        <p:txBody>
          <a:bodyPr wrap="square" lIns="0" tIns="0" rIns="0" bIns="0" rtlCol="0" anchor="t"/>
          <a:lstStyle/>
          <a:p>
            <a:pPr marL="0" indent="0">
              <a:buNone/>
            </a:pPr>
            <a:r>
              <a:rPr lang="en-US" sz="1400" dirty="0">
                <a:solidFill>
                  <a:srgbClr val="4E5767"/>
                </a:solidFill>
              </a:rPr>
              <a:t>Latar belakang, pertanyaan bisnis, pendekatan</a:t>
            </a:r>
            <a:endParaRPr lang="en-US" sz="1400" dirty="0"/>
          </a:p>
        </p:txBody>
      </p:sp>
      <p:sp>
        <p:nvSpPr>
          <p:cNvPr id="13" name="Text 10"/>
          <p:cNvSpPr txBox="1"/>
          <p:nvPr/>
        </p:nvSpPr>
        <p:spPr>
          <a:xfrm>
            <a:off x="640080" y="4114800"/>
            <a:ext cx="1371600" cy="640080"/>
          </a:xfrm>
          <a:prstGeom prst="rect">
            <a:avLst/>
          </a:prstGeom>
          <a:noFill/>
          <a:ln/>
        </p:spPr>
        <p:txBody>
          <a:bodyPr wrap="square" lIns="0" tIns="0" rIns="0" bIns="0" rtlCol="0" anchor="t"/>
          <a:lstStyle/>
          <a:p>
            <a:pPr marL="0" indent="0">
              <a:buNone/>
            </a:pPr>
            <a:r>
              <a:rPr lang="en-US" sz="3600" b="1" dirty="0">
                <a:solidFill>
                  <a:schemeClr val="accent2"/>
                </a:solidFill>
              </a:rPr>
              <a:t>04</a:t>
            </a:r>
            <a:endParaRPr lang="en-US" sz="3600" dirty="0"/>
          </a:p>
        </p:txBody>
      </p:sp>
      <p:sp>
        <p:nvSpPr>
          <p:cNvPr id="14" name="Text 11"/>
          <p:cNvSpPr txBox="1"/>
          <p:nvPr/>
        </p:nvSpPr>
        <p:spPr>
          <a:xfrm>
            <a:off x="640080" y="4846320"/>
            <a:ext cx="3291840" cy="320040"/>
          </a:xfrm>
          <a:prstGeom prst="rect">
            <a:avLst/>
          </a:prstGeom>
          <a:noFill/>
          <a:ln/>
        </p:spPr>
        <p:txBody>
          <a:bodyPr wrap="square" lIns="0" tIns="0" rIns="0" bIns="0" rtlCol="0" anchor="t"/>
          <a:lstStyle/>
          <a:p>
            <a:pPr marL="0" indent="0">
              <a:buNone/>
            </a:pPr>
            <a:r>
              <a:rPr lang="en-US" sz="1800" b="1" dirty="0">
                <a:solidFill>
                  <a:schemeClr val="tx2"/>
                </a:solidFill>
              </a:rPr>
              <a:t>Data Preparation</a:t>
            </a:r>
            <a:endParaRPr lang="en-US" sz="1800" dirty="0"/>
          </a:p>
        </p:txBody>
      </p:sp>
      <p:sp>
        <p:nvSpPr>
          <p:cNvPr id="15" name="Text 12"/>
          <p:cNvSpPr txBox="1"/>
          <p:nvPr/>
        </p:nvSpPr>
        <p:spPr>
          <a:xfrm>
            <a:off x="640080" y="5212080"/>
            <a:ext cx="3291840" cy="548640"/>
          </a:xfrm>
          <a:prstGeom prst="rect">
            <a:avLst/>
          </a:prstGeom>
          <a:noFill/>
          <a:ln/>
        </p:spPr>
        <p:txBody>
          <a:bodyPr wrap="square" lIns="0" tIns="0" rIns="0" bIns="0" rtlCol="0" anchor="t"/>
          <a:lstStyle/>
          <a:p>
            <a:pPr marL="0" indent="0">
              <a:buNone/>
            </a:pPr>
            <a:r>
              <a:rPr lang="en-US" sz="1400" dirty="0">
                <a:solidFill>
                  <a:srgbClr val="4E5767"/>
                </a:solidFill>
              </a:rPr>
              <a:t>Profiling, cleaning, feature engineering</a:t>
            </a:r>
            <a:endParaRPr lang="en-US" sz="1400" dirty="0"/>
          </a:p>
        </p:txBody>
      </p:sp>
      <p:sp>
        <p:nvSpPr>
          <p:cNvPr id="16" name="Text 13"/>
          <p:cNvSpPr txBox="1"/>
          <p:nvPr/>
        </p:nvSpPr>
        <p:spPr>
          <a:xfrm>
            <a:off x="4297680" y="4114800"/>
            <a:ext cx="1371600" cy="640080"/>
          </a:xfrm>
          <a:prstGeom prst="rect">
            <a:avLst/>
          </a:prstGeom>
          <a:noFill/>
          <a:ln/>
        </p:spPr>
        <p:txBody>
          <a:bodyPr wrap="square" lIns="0" tIns="0" rIns="0" bIns="0" rtlCol="0" anchor="t"/>
          <a:lstStyle/>
          <a:p>
            <a:pPr marL="0" indent="0">
              <a:buNone/>
            </a:pPr>
            <a:r>
              <a:rPr lang="en-US" sz="3600" b="1" dirty="0">
                <a:solidFill>
                  <a:schemeClr val="accent2"/>
                </a:solidFill>
              </a:rPr>
              <a:t>05</a:t>
            </a:r>
            <a:endParaRPr lang="en-US" sz="3600" dirty="0"/>
          </a:p>
        </p:txBody>
      </p:sp>
      <p:sp>
        <p:nvSpPr>
          <p:cNvPr id="17" name="Text 14"/>
          <p:cNvSpPr txBox="1"/>
          <p:nvPr/>
        </p:nvSpPr>
        <p:spPr>
          <a:xfrm>
            <a:off x="4297680" y="4846320"/>
            <a:ext cx="3291840" cy="320040"/>
          </a:xfrm>
          <a:prstGeom prst="rect">
            <a:avLst/>
          </a:prstGeom>
          <a:noFill/>
          <a:ln/>
        </p:spPr>
        <p:txBody>
          <a:bodyPr wrap="square" lIns="0" tIns="0" rIns="0" bIns="0" rtlCol="0" anchor="t"/>
          <a:lstStyle/>
          <a:p>
            <a:pPr marL="0" indent="0">
              <a:buNone/>
            </a:pPr>
            <a:r>
              <a:rPr lang="en-US" sz="1800" b="1" dirty="0">
                <a:solidFill>
                  <a:schemeClr val="tx2"/>
                </a:solidFill>
              </a:rPr>
              <a:t>Analysis &amp; Insights</a:t>
            </a:r>
            <a:endParaRPr lang="en-US" sz="1800" dirty="0"/>
          </a:p>
        </p:txBody>
      </p:sp>
      <p:sp>
        <p:nvSpPr>
          <p:cNvPr id="18" name="Text 15"/>
          <p:cNvSpPr txBox="1"/>
          <p:nvPr/>
        </p:nvSpPr>
        <p:spPr>
          <a:xfrm>
            <a:off x="4297680" y="5212080"/>
            <a:ext cx="3291840" cy="548640"/>
          </a:xfrm>
          <a:prstGeom prst="rect">
            <a:avLst/>
          </a:prstGeom>
          <a:noFill/>
          <a:ln/>
        </p:spPr>
        <p:txBody>
          <a:bodyPr wrap="square" lIns="0" tIns="0" rIns="0" bIns="0" rtlCol="0" anchor="t"/>
          <a:lstStyle/>
          <a:p>
            <a:pPr marL="0" indent="0">
              <a:buNone/>
            </a:pPr>
            <a:r>
              <a:rPr lang="en-US" sz="1400" dirty="0">
                <a:solidFill>
                  <a:srgbClr val="4E5767"/>
                </a:solidFill>
              </a:rPr>
              <a:t>EDA per business question (BQ1 sampai BQ4)</a:t>
            </a:r>
            <a:endParaRPr lang="en-US" sz="1400" dirty="0"/>
          </a:p>
        </p:txBody>
      </p:sp>
      <p:sp>
        <p:nvSpPr>
          <p:cNvPr id="19" name="Text 16"/>
          <p:cNvSpPr txBox="1"/>
          <p:nvPr/>
        </p:nvSpPr>
        <p:spPr>
          <a:xfrm>
            <a:off x="7955280" y="4114800"/>
            <a:ext cx="1371600" cy="640080"/>
          </a:xfrm>
          <a:prstGeom prst="rect">
            <a:avLst/>
          </a:prstGeom>
          <a:noFill/>
          <a:ln/>
        </p:spPr>
        <p:txBody>
          <a:bodyPr wrap="square" lIns="0" tIns="0" rIns="0" bIns="0" rtlCol="0" anchor="t"/>
          <a:lstStyle/>
          <a:p>
            <a:pPr marL="0" indent="0">
              <a:buNone/>
            </a:pPr>
            <a:r>
              <a:rPr lang="en-US" sz="3600" b="1" dirty="0">
                <a:solidFill>
                  <a:schemeClr val="accent2"/>
                </a:solidFill>
              </a:rPr>
              <a:t>06</a:t>
            </a:r>
            <a:endParaRPr lang="en-US" sz="3600" dirty="0"/>
          </a:p>
        </p:txBody>
      </p:sp>
      <p:sp>
        <p:nvSpPr>
          <p:cNvPr id="20" name="Text 17"/>
          <p:cNvSpPr txBox="1"/>
          <p:nvPr/>
        </p:nvSpPr>
        <p:spPr>
          <a:xfrm>
            <a:off x="7955280" y="4846320"/>
            <a:ext cx="3291840" cy="320040"/>
          </a:xfrm>
          <a:prstGeom prst="rect">
            <a:avLst/>
          </a:prstGeom>
          <a:noFill/>
          <a:ln/>
        </p:spPr>
        <p:txBody>
          <a:bodyPr wrap="square" lIns="0" tIns="0" rIns="0" bIns="0" rtlCol="0" anchor="t"/>
          <a:lstStyle/>
          <a:p>
            <a:pPr marL="0" indent="0">
              <a:buNone/>
            </a:pPr>
            <a:r>
              <a:rPr lang="en-US" sz="1800" b="1" dirty="0">
                <a:solidFill>
                  <a:schemeClr val="tx2"/>
                </a:solidFill>
              </a:rPr>
              <a:t>Dashboard &amp; Rekomendasi</a:t>
            </a:r>
            <a:endParaRPr lang="en-US" sz="1800" dirty="0"/>
          </a:p>
        </p:txBody>
      </p:sp>
      <p:sp>
        <p:nvSpPr>
          <p:cNvPr id="21" name="Text 18"/>
          <p:cNvSpPr txBox="1"/>
          <p:nvPr/>
        </p:nvSpPr>
        <p:spPr>
          <a:xfrm>
            <a:off x="7955280" y="5212080"/>
            <a:ext cx="3291840" cy="548640"/>
          </a:xfrm>
          <a:prstGeom prst="rect">
            <a:avLst/>
          </a:prstGeom>
          <a:noFill/>
          <a:ln/>
        </p:spPr>
        <p:txBody>
          <a:bodyPr wrap="square" lIns="0" tIns="0" rIns="0" bIns="0" rtlCol="0" anchor="t"/>
          <a:lstStyle/>
          <a:p>
            <a:pPr marL="0" indent="0">
              <a:buNone/>
            </a:pPr>
            <a:r>
              <a:rPr lang="en-US" sz="1400" dirty="0">
                <a:solidFill>
                  <a:srgbClr val="4E5767"/>
                </a:solidFill>
              </a:rPr>
              <a:t>Dashboard, insight utama, rekomendasi</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2"/>
                </a:solidFill>
              </a:rPr>
              <a:t>01 — Introduction</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tx2"/>
                </a:solidFill>
              </a:rPr>
              <a:t>Frederick Rianto Putra</a:t>
            </a:r>
            <a:endParaRPr lang="en-US" sz="3000" dirty="0"/>
          </a:p>
        </p:txBody>
      </p:sp>
      <p:sp>
        <p:nvSpPr>
          <p:cNvPr id="5" name="intro-card"/>
          <p:cNvSpPr/>
          <p:nvPr/>
        </p:nvSpPr>
        <p:spPr>
          <a:xfrm>
            <a:off x="640080" y="1783080"/>
            <a:ext cx="3429000" cy="4434840"/>
          </a:xfrm>
          <a:prstGeom prst="roundRect">
            <a:avLst>
              <a:gd name="adj" fmla="val 2133"/>
            </a:avLst>
          </a:prstGeom>
          <a:solidFill>
            <a:schemeClr val="bg1"/>
          </a:solidFill>
          <a:ln w="9525">
            <a:solidFill>
              <a:srgbClr val="E0E1DF"/>
            </a:solidFill>
            <a:prstDash val="solid"/>
          </a:ln>
        </p:spPr>
      </p:sp>
      <p:sp>
        <p:nvSpPr>
          <p:cNvPr id="6" name="Text 3"/>
          <p:cNvSpPr txBox="1"/>
          <p:nvPr/>
        </p:nvSpPr>
        <p:spPr>
          <a:xfrm>
            <a:off x="914400" y="2011680"/>
            <a:ext cx="2880360" cy="365760"/>
          </a:xfrm>
          <a:prstGeom prst="rect">
            <a:avLst/>
          </a:prstGeom>
          <a:noFill/>
          <a:ln/>
        </p:spPr>
        <p:txBody>
          <a:bodyPr wrap="square" lIns="0" tIns="0" rIns="0" bIns="0" rtlCol="0" anchor="t"/>
          <a:lstStyle/>
          <a:p>
            <a:pPr marL="0" indent="0">
              <a:buNone/>
            </a:pPr>
            <a:r>
              <a:rPr lang="en-US" sz="2000" b="1" dirty="0">
                <a:solidFill>
                  <a:schemeClr val="accent1"/>
                </a:solidFill>
              </a:rPr>
              <a:t>Self-Overview</a:t>
            </a:r>
            <a:endParaRPr lang="en-US" sz="2000" dirty="0"/>
          </a:p>
        </p:txBody>
      </p:sp>
      <p:sp>
        <p:nvSpPr>
          <p:cNvPr id="7" name="Text 4"/>
          <p:cNvSpPr txBox="1"/>
          <p:nvPr/>
        </p:nvSpPr>
        <p:spPr>
          <a:xfrm>
            <a:off x="914400" y="2560320"/>
            <a:ext cx="2880360" cy="34747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Lulusan S1 Teknik Informatika dengan minat pada data analysis dan machine learning.</a:t>
            </a:r>
            <a:endParaRPr lang="en-US" sz="1400" dirty="0"/>
          </a:p>
          <a:p>
            <a:pPr marL="342900" indent="-342900">
              <a:spcAft>
                <a:spcPts val="1000"/>
              </a:spcAft>
              <a:buSzPct val="100000"/>
              <a:buChar char="•"/>
            </a:pPr>
            <a:r>
              <a:rPr lang="en-US" sz="1400" dirty="0">
                <a:solidFill>
                  <a:schemeClr val="tx1"/>
                </a:solidFill>
              </a:rPr>
              <a:t>Terbiasa membersihkan, mengolah, dan menganalisis data dengan Python dan SQL; membuat dashboard dengan Power BI dan Tableau.</a:t>
            </a:r>
            <a:endParaRPr lang="en-US" sz="1400" dirty="0"/>
          </a:p>
          <a:p>
            <a:pPr marL="342900" indent="-342900">
              <a:spcAft>
                <a:spcPts val="1000"/>
              </a:spcAft>
              <a:buSzPct val="100000"/>
              <a:buChar char="•"/>
            </a:pPr>
            <a:r>
              <a:rPr lang="en-US" sz="1400" dirty="0">
                <a:solidFill>
                  <a:schemeClr val="tx1"/>
                </a:solidFill>
              </a:rPr>
              <a:t>Target karier: Data Analyst.</a:t>
            </a:r>
            <a:endParaRPr lang="en-US" sz="1400" dirty="0"/>
          </a:p>
        </p:txBody>
      </p:sp>
      <p:sp>
        <p:nvSpPr>
          <p:cNvPr id="8" name="intro-card"/>
          <p:cNvSpPr/>
          <p:nvPr/>
        </p:nvSpPr>
        <p:spPr>
          <a:xfrm>
            <a:off x="4297680" y="1783080"/>
            <a:ext cx="3429000" cy="4434840"/>
          </a:xfrm>
          <a:prstGeom prst="roundRect">
            <a:avLst>
              <a:gd name="adj" fmla="val 2133"/>
            </a:avLst>
          </a:prstGeom>
          <a:solidFill>
            <a:schemeClr val="bg1"/>
          </a:solidFill>
          <a:ln w="9525">
            <a:solidFill>
              <a:srgbClr val="E0E1DF"/>
            </a:solidFill>
            <a:prstDash val="solid"/>
          </a:ln>
        </p:spPr>
      </p:sp>
      <p:sp>
        <p:nvSpPr>
          <p:cNvPr id="9" name="Text 6"/>
          <p:cNvSpPr txBox="1"/>
          <p:nvPr/>
        </p:nvSpPr>
        <p:spPr>
          <a:xfrm>
            <a:off x="4572000" y="2011680"/>
            <a:ext cx="2880360" cy="365760"/>
          </a:xfrm>
          <a:prstGeom prst="rect">
            <a:avLst/>
          </a:prstGeom>
          <a:noFill/>
          <a:ln/>
        </p:spPr>
        <p:txBody>
          <a:bodyPr wrap="square" lIns="0" tIns="0" rIns="0" bIns="0" rtlCol="0" anchor="t"/>
          <a:lstStyle/>
          <a:p>
            <a:pPr marL="0" indent="0">
              <a:buNone/>
            </a:pPr>
            <a:r>
              <a:rPr lang="en-US" sz="2000" b="1" dirty="0">
                <a:solidFill>
                  <a:schemeClr val="accent2"/>
                </a:solidFill>
              </a:rPr>
              <a:t>Education</a:t>
            </a:r>
            <a:endParaRPr lang="en-US" sz="2000" dirty="0"/>
          </a:p>
        </p:txBody>
      </p:sp>
      <p:sp>
        <p:nvSpPr>
          <p:cNvPr id="10" name="Text 7"/>
          <p:cNvSpPr txBox="1"/>
          <p:nvPr/>
        </p:nvSpPr>
        <p:spPr>
          <a:xfrm>
            <a:off x="4572000" y="2560320"/>
            <a:ext cx="2880360" cy="34747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S1 Teknik Informatika, Telkom University Purwokerto (2021 sampai 2025), IPK 3,75 dari 4,00, gelar S.Kom.</a:t>
            </a:r>
            <a:endParaRPr lang="en-US" sz="1400" dirty="0"/>
          </a:p>
          <a:p>
            <a:pPr marL="342900" indent="-342900">
              <a:spcAft>
                <a:spcPts val="1000"/>
              </a:spcAft>
              <a:buSzPct val="100000"/>
              <a:buChar char="•"/>
            </a:pPr>
            <a:r>
              <a:rPr lang="en-US" sz="1400" dirty="0">
                <a:solidFill>
                  <a:schemeClr val="tx1"/>
                </a:solidFill>
              </a:rPr>
              <a:t>Fokus: Struktur Data, Basis Data, Statistik.</a:t>
            </a:r>
            <a:endParaRPr lang="en-US" sz="1400" dirty="0"/>
          </a:p>
          <a:p>
            <a:pPr marL="342900" indent="-342900">
              <a:spcAft>
                <a:spcPts val="1000"/>
              </a:spcAft>
              <a:buSzPct val="100000"/>
              <a:buChar char="•"/>
            </a:pPr>
            <a:r>
              <a:rPr lang="en-US" sz="1400" dirty="0">
                <a:solidFill>
                  <a:schemeClr val="tx1"/>
                </a:solidFill>
              </a:rPr>
              <a:t>Skripsi: analisis sentimen dengan Naive Bayes dan SVM (akurasi 90,4%).</a:t>
            </a:r>
            <a:endParaRPr lang="en-US" sz="1400" dirty="0"/>
          </a:p>
        </p:txBody>
      </p:sp>
      <p:sp>
        <p:nvSpPr>
          <p:cNvPr id="11" name="intro-card"/>
          <p:cNvSpPr/>
          <p:nvPr/>
        </p:nvSpPr>
        <p:spPr>
          <a:xfrm>
            <a:off x="7955280" y="1783080"/>
            <a:ext cx="3429000" cy="4434840"/>
          </a:xfrm>
          <a:prstGeom prst="roundRect">
            <a:avLst>
              <a:gd name="adj" fmla="val 2133"/>
            </a:avLst>
          </a:prstGeom>
          <a:solidFill>
            <a:schemeClr val="bg1"/>
          </a:solidFill>
          <a:ln w="9525">
            <a:solidFill>
              <a:srgbClr val="E0E1DF"/>
            </a:solidFill>
            <a:prstDash val="solid"/>
          </a:ln>
        </p:spPr>
      </p:sp>
      <p:sp>
        <p:nvSpPr>
          <p:cNvPr id="12" name="Text 9"/>
          <p:cNvSpPr txBox="1"/>
          <p:nvPr/>
        </p:nvSpPr>
        <p:spPr>
          <a:xfrm>
            <a:off x="8229600" y="2011680"/>
            <a:ext cx="2880360" cy="365760"/>
          </a:xfrm>
          <a:prstGeom prst="rect">
            <a:avLst/>
          </a:prstGeom>
          <a:noFill/>
          <a:ln/>
        </p:spPr>
        <p:txBody>
          <a:bodyPr wrap="square" lIns="0" tIns="0" rIns="0" bIns="0" rtlCol="0" anchor="t"/>
          <a:lstStyle/>
          <a:p>
            <a:pPr marL="0" indent="0">
              <a:buNone/>
            </a:pPr>
            <a:r>
              <a:rPr lang="en-US" sz="2000" b="1" dirty="0">
                <a:solidFill>
                  <a:schemeClr val="accent1"/>
                </a:solidFill>
              </a:rPr>
              <a:t>Working</a:t>
            </a:r>
            <a:endParaRPr lang="en-US" sz="2000" dirty="0"/>
          </a:p>
        </p:txBody>
      </p:sp>
      <p:sp>
        <p:nvSpPr>
          <p:cNvPr id="13" name="Text 10"/>
          <p:cNvSpPr txBox="1"/>
          <p:nvPr/>
        </p:nvSpPr>
        <p:spPr>
          <a:xfrm>
            <a:off x="8229600" y="2560320"/>
            <a:ext cx="2880360" cy="34747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Data Analyst Bootcamp, Dibimbing (Mar 2026 sampai sekarang): data cleaning, SQL, dashboard.</a:t>
            </a:r>
            <a:endParaRPr lang="en-US" sz="1400" dirty="0"/>
          </a:p>
          <a:p>
            <a:pPr marL="342900" indent="-342900">
              <a:spcAft>
                <a:spcPts val="1000"/>
              </a:spcAft>
              <a:buSzPct val="100000"/>
              <a:buChar char="•"/>
            </a:pPr>
            <a:r>
              <a:rPr lang="en-US" sz="1400" dirty="0">
                <a:solidFill>
                  <a:schemeClr val="tx1"/>
                </a:solidFill>
              </a:rPr>
              <a:t>Machine Learning Cohort, Bangkit Academy (Feb sampai Jul 2024): model prediktif dengan Python dan TensorFlow.</a:t>
            </a:r>
            <a:endParaRPr lang="en-US" sz="1400" dirty="0"/>
          </a:p>
          <a:p>
            <a:pPr marL="342900" indent="-342900">
              <a:spcAft>
                <a:spcPts val="1000"/>
              </a:spcAft>
              <a:buSzPct val="100000"/>
              <a:buChar char="•"/>
            </a:pPr>
            <a:r>
              <a:rPr lang="en-US" sz="1400" dirty="0">
                <a:solidFill>
                  <a:schemeClr val="tx1"/>
                </a:solidFill>
              </a:rPr>
              <a:t>Magang Network Engineer, PT Indonesia Comnets Plus (2019).</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2"/>
                </a:solidFill>
              </a:rPr>
              <a:t>02 — Overview Project</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tx2"/>
                </a:solidFill>
              </a:rPr>
              <a:t>Proyek yang Dikerjakan Selama Bootcamp</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08792" cy="3840480"/>
        </p:xfrm>
        <a:graphic>
          <a:graphicData uri="http://schemas.openxmlformats.org/drawingml/2006/table">
            <a:tbl>
              <a:tblPr/>
              <a:tblGrid>
                <a:gridCol w="3566160">
                  <a:extLst>
                    <a:ext uri="{9D8B030D-6E8A-4147-A177-3AD203B41FA5}">
                      <a16:colId xmlns:a16="http://schemas.microsoft.com/office/drawing/2014/main" val="20000"/>
                    </a:ext>
                  </a:extLst>
                </a:gridCol>
                <a:gridCol w="7342632">
                  <a:extLst>
                    <a:ext uri="{9D8B030D-6E8A-4147-A177-3AD203B41FA5}">
                      <a16:colId xmlns:a16="http://schemas.microsoft.com/office/drawing/2014/main" val="20001"/>
                    </a:ext>
                  </a:extLst>
                </a:gridCol>
              </a:tblGrid>
              <a:tr h="457200">
                <a:tc>
                  <a:txBody>
                    <a:bodyPr/>
                    <a:lstStyle/>
                    <a:p>
                      <a:pPr marL="0" indent="0">
                        <a:buNone/>
                      </a:pPr>
                      <a:r>
                        <a:rPr lang="en-US" sz="1400" b="1" dirty="0">
                          <a:solidFill>
                            <a:schemeClr val="bg1"/>
                          </a:solidFill>
                        </a:rPr>
                        <a:t>Judul Proyek</a:t>
                      </a:r>
                      <a:endParaRPr lang="en-US" sz="1400" dirty="0"/>
                    </a:p>
                  </a:txBody>
                  <a:tcPr marL="137160" marR="137160" marT="54864" marB="54864"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0D1B2E"/>
                    </a:solidFill>
                  </a:tcPr>
                </a:tc>
                <a:tc>
                  <a:txBody>
                    <a:bodyPr/>
                    <a:lstStyle/>
                    <a:p>
                      <a:pPr marL="0" indent="0">
                        <a:buNone/>
                      </a:pPr>
                      <a:r>
                        <a:rPr lang="en-US" sz="1400" b="1" dirty="0">
                          <a:solidFill>
                            <a:schemeClr val="bg1"/>
                          </a:solidFill>
                        </a:rPr>
                        <a:t>Deskripsi Singkat</a:t>
                      </a:r>
                      <a:endParaRPr lang="en-US" sz="1400" dirty="0"/>
                    </a:p>
                  </a:txBody>
                  <a:tcPr marL="137160" marR="137160" marT="54864" marB="54864"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0D1B2E"/>
                    </a:solidFill>
                  </a:tcPr>
                </a:tc>
                <a:extLst>
                  <a:ext uri="{0D108BD9-81ED-4DB2-BD59-A6C34878D82A}">
                    <a16:rowId xmlns:a16="http://schemas.microsoft.com/office/drawing/2014/main" val="10000"/>
                  </a:ext>
                </a:extLst>
              </a:tr>
              <a:tr h="960120">
                <a:tc>
                  <a:txBody>
                    <a:bodyPr/>
                    <a:lstStyle/>
                    <a:p>
                      <a:pPr marL="0" indent="0">
                        <a:buNone/>
                      </a:pPr>
                      <a:r>
                        <a:rPr lang="en-US" sz="1300" b="1" dirty="0">
                          <a:solidFill>
                            <a:schemeClr val="tx1"/>
                          </a:solidFill>
                        </a:rPr>
                        <a:t>People Analytics: Employee Attrition</a:t>
                      </a:r>
                      <a:endParaRPr lang="en-US" sz="1300" dirty="0"/>
                    </a:p>
                  </a:txBody>
                  <a:tcPr marL="137160" marR="137160" marT="54864" marB="54864"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Faktor yang berhubungan dengan attrition pada 4.410 karyawan (3 tabel, Kaggle HR Analytics). t-test, chi-square, regresi logistik (ROC-AUC 0,778), segmentasi risiko. Python.</a:t>
                      </a:r>
                      <a:endParaRPr lang="en-US" sz="1300" dirty="0"/>
                    </a:p>
                  </a:txBody>
                  <a:tcPr marL="137160" marR="137160" marT="54864" marB="54864"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300" b="1" dirty="0">
                          <a:solidFill>
                            <a:schemeClr val="tx1"/>
                          </a:solidFill>
                        </a:rPr>
                        <a:t>People Analytics: Job Satisfaction</a:t>
                      </a:r>
                      <a:endParaRPr lang="en-US" sz="1300" dirty="0"/>
                    </a:p>
                  </a:txBody>
                  <a:tcPr marL="137160" marR="137160" marT="54864" marB="54864"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Analisis kepuasan kerja karyawan dari data survei (assignment_employee_survey.csv) dengan target job_satisfaction.</a:t>
                      </a:r>
                      <a:endParaRPr lang="en-US" sz="1300" dirty="0"/>
                    </a:p>
                  </a:txBody>
                  <a:tcPr marL="137160" marR="137160" marT="54864" marB="54864"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1300" b="1" dirty="0">
                          <a:solidFill>
                            <a:schemeClr val="tx1"/>
                          </a:solidFill>
                        </a:rPr>
                        <a:t>Customer Lifetime Value &amp; RFM</a:t>
                      </a:r>
                      <a:endParaRPr lang="en-US" sz="1300" dirty="0"/>
                    </a:p>
                  </a:txBody>
                  <a:tcPr marL="137160" marR="137160" marT="54864" marB="54864"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Segmentasi pelanggan dengan RFM dan estimasi CLV pada dataset Sample Superstore (Kaggle).</a:t>
                      </a:r>
                      <a:endParaRPr lang="en-US" sz="1300" dirty="0"/>
                    </a:p>
                  </a:txBody>
                  <a:tcPr marL="137160" marR="137160" marT="54864" marB="54864"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60120">
                <a:tc>
                  <a:txBody>
                    <a:bodyPr/>
                    <a:lstStyle/>
                    <a:p>
                      <a:pPr marL="0" indent="0">
                        <a:buNone/>
                      </a:pPr>
                      <a:r>
                        <a:rPr lang="en-US" sz="1300" b="1" dirty="0">
                          <a:solidFill>
                            <a:schemeClr val="tx1"/>
                          </a:solidFill>
                        </a:rPr>
                        <a:t>Main Project: Mengapa Pengunjung Tidak Membeli</a:t>
                      </a:r>
                      <a:endParaRPr lang="en-US" sz="1300" dirty="0"/>
                    </a:p>
                  </a:txBody>
                  <a:tcPr marL="137160" marR="137160" marT="54864" marB="54864"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Diagnosis konversi lihat produk ke beli dari keranjang pada 885 ribu event toko elektronik online: funnel, segmentasi sesi, regresi logistik dua tahap, dashboard Power BI, rekomendasi untuk A/B test. Python dan Power BI.</a:t>
                      </a:r>
                      <a:endParaRPr lang="en-US" sz="1300" dirty="0"/>
                    </a:p>
                  </a:txBody>
                  <a:tcPr marL="137160" marR="137160" marT="54864" marB="54864"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2"/>
                </a:solidFill>
              </a:rPr>
              <a:t>03 — Business Problem</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tx2"/>
                </a:solidFill>
              </a:rPr>
              <a:t>Project Background</a:t>
            </a:r>
            <a:endParaRPr lang="en-US" sz="3000" dirty="0"/>
          </a:p>
        </p:txBody>
      </p:sp>
      <p:sp>
        <p:nvSpPr>
          <p:cNvPr id="5" name="stat-card"/>
          <p:cNvSpPr/>
          <p:nvPr/>
        </p:nvSpPr>
        <p:spPr>
          <a:xfrm>
            <a:off x="640080" y="1828800"/>
            <a:ext cx="4206240" cy="1371600"/>
          </a:xfrm>
          <a:prstGeom prst="roundRect">
            <a:avLst>
              <a:gd name="adj" fmla="val 5333"/>
            </a:avLst>
          </a:prstGeom>
          <a:solidFill>
            <a:schemeClr val="accent5"/>
          </a:solidFill>
          <a:ln w="9525">
            <a:solidFill>
              <a:schemeClr val="accent6"/>
            </a:solidFill>
            <a:prstDash val="solid"/>
          </a:ln>
        </p:spPr>
      </p:sp>
      <p:sp>
        <p:nvSpPr>
          <p:cNvPr id="6" name="Text 3"/>
          <p:cNvSpPr txBox="1"/>
          <p:nvPr/>
        </p:nvSpPr>
        <p:spPr>
          <a:xfrm>
            <a:off x="640080" y="1993392"/>
            <a:ext cx="4206240" cy="754380"/>
          </a:xfrm>
          <a:prstGeom prst="rect">
            <a:avLst/>
          </a:prstGeom>
          <a:noFill/>
          <a:ln/>
        </p:spPr>
        <p:txBody>
          <a:bodyPr wrap="square" lIns="0" tIns="0" rIns="0" bIns="0" rtlCol="0" anchor="ctr"/>
          <a:lstStyle/>
          <a:p>
            <a:pPr marL="0" indent="0" algn="ctr">
              <a:buNone/>
            </a:pPr>
            <a:r>
              <a:rPr lang="en-US" sz="4000" b="1" dirty="0">
                <a:solidFill>
                  <a:schemeClr val="bg1"/>
                </a:solidFill>
              </a:rPr>
              <a:t>885.129</a:t>
            </a:r>
            <a:endParaRPr lang="en-US" sz="4000" dirty="0"/>
          </a:p>
        </p:txBody>
      </p:sp>
      <p:sp>
        <p:nvSpPr>
          <p:cNvPr id="7" name="Text 4"/>
          <p:cNvSpPr txBox="1"/>
          <p:nvPr/>
        </p:nvSpPr>
        <p:spPr>
          <a:xfrm>
            <a:off x="822960" y="2679192"/>
            <a:ext cx="3840480" cy="438912"/>
          </a:xfrm>
          <a:prstGeom prst="rect">
            <a:avLst/>
          </a:prstGeom>
          <a:noFill/>
          <a:ln/>
        </p:spPr>
        <p:txBody>
          <a:bodyPr wrap="square" lIns="0" tIns="0" rIns="0" bIns="0" rtlCol="0" anchor="t"/>
          <a:lstStyle/>
          <a:p>
            <a:pPr marL="0" indent="0" algn="ctr">
              <a:buNone/>
            </a:pPr>
            <a:r>
              <a:rPr lang="en-US" sz="1300" dirty="0">
                <a:solidFill>
                  <a:schemeClr val="accent4"/>
                </a:solidFill>
              </a:rPr>
              <a:t>event perilaku pengunjung (view, cart, purchase)</a:t>
            </a:r>
            <a:endParaRPr lang="en-US" sz="1300" dirty="0"/>
          </a:p>
        </p:txBody>
      </p:sp>
      <p:sp>
        <p:nvSpPr>
          <p:cNvPr id="8" name="stat-card"/>
          <p:cNvSpPr/>
          <p:nvPr/>
        </p:nvSpPr>
        <p:spPr>
          <a:xfrm>
            <a:off x="640080" y="3383280"/>
            <a:ext cx="4206240" cy="1371600"/>
          </a:xfrm>
          <a:prstGeom prst="roundRect">
            <a:avLst>
              <a:gd name="adj" fmla="val 5333"/>
            </a:avLst>
          </a:prstGeom>
          <a:solidFill>
            <a:schemeClr val="accent5"/>
          </a:solidFill>
          <a:ln w="9525">
            <a:solidFill>
              <a:schemeClr val="accent6"/>
            </a:solidFill>
            <a:prstDash val="solid"/>
          </a:ln>
        </p:spPr>
      </p:sp>
      <p:sp>
        <p:nvSpPr>
          <p:cNvPr id="9" name="Text 6"/>
          <p:cNvSpPr txBox="1"/>
          <p:nvPr/>
        </p:nvSpPr>
        <p:spPr>
          <a:xfrm>
            <a:off x="640080" y="3547872"/>
            <a:ext cx="4206240" cy="754380"/>
          </a:xfrm>
          <a:prstGeom prst="rect">
            <a:avLst/>
          </a:prstGeom>
          <a:noFill/>
          <a:ln/>
        </p:spPr>
        <p:txBody>
          <a:bodyPr wrap="square" lIns="0" tIns="0" rIns="0" bIns="0" rtlCol="0" anchor="ctr"/>
          <a:lstStyle/>
          <a:p>
            <a:pPr marL="0" indent="0" algn="ctr">
              <a:buNone/>
            </a:pPr>
            <a:r>
              <a:rPr lang="en-US" sz="4000" b="1" dirty="0">
                <a:solidFill>
                  <a:schemeClr val="bg1"/>
                </a:solidFill>
              </a:rPr>
              <a:t>269.858</a:t>
            </a:r>
            <a:endParaRPr lang="en-US" sz="4000" dirty="0"/>
          </a:p>
        </p:txBody>
      </p:sp>
      <p:sp>
        <p:nvSpPr>
          <p:cNvPr id="10" name="Text 7"/>
          <p:cNvSpPr txBox="1"/>
          <p:nvPr/>
        </p:nvSpPr>
        <p:spPr>
          <a:xfrm>
            <a:off x="822960" y="4233672"/>
            <a:ext cx="3840480" cy="438912"/>
          </a:xfrm>
          <a:prstGeom prst="rect">
            <a:avLst/>
          </a:prstGeom>
          <a:noFill/>
          <a:ln/>
        </p:spPr>
        <p:txBody>
          <a:bodyPr wrap="square" lIns="0" tIns="0" rIns="0" bIns="0" rtlCol="0" anchor="t"/>
          <a:lstStyle/>
          <a:p>
            <a:pPr marL="0" indent="0" algn="ctr">
              <a:buNone/>
            </a:pPr>
            <a:r>
              <a:rPr lang="en-US" sz="1300" dirty="0">
                <a:solidFill>
                  <a:schemeClr val="accent4"/>
                </a:solidFill>
              </a:rPr>
              <a:t>sesi dengan view yang dianalisis, 24 Sep 2020 sampai 28 Feb 2021</a:t>
            </a:r>
            <a:endParaRPr lang="en-US" sz="1300" dirty="0"/>
          </a:p>
        </p:txBody>
      </p:sp>
      <p:sp>
        <p:nvSpPr>
          <p:cNvPr id="11" name="stat-card"/>
          <p:cNvSpPr/>
          <p:nvPr/>
        </p:nvSpPr>
        <p:spPr>
          <a:xfrm>
            <a:off x="640080" y="4937760"/>
            <a:ext cx="4206240" cy="1371600"/>
          </a:xfrm>
          <a:prstGeom prst="roundRect">
            <a:avLst>
              <a:gd name="adj" fmla="val 5333"/>
            </a:avLst>
          </a:prstGeom>
          <a:solidFill>
            <a:schemeClr val="accent5"/>
          </a:solidFill>
          <a:ln w="9525">
            <a:solidFill>
              <a:schemeClr val="accent6"/>
            </a:solidFill>
            <a:prstDash val="solid"/>
          </a:ln>
        </p:spPr>
      </p:sp>
      <p:sp>
        <p:nvSpPr>
          <p:cNvPr id="12" name="Text 9"/>
          <p:cNvSpPr txBox="1"/>
          <p:nvPr/>
        </p:nvSpPr>
        <p:spPr>
          <a:xfrm>
            <a:off x="640080" y="5102352"/>
            <a:ext cx="4206240" cy="754380"/>
          </a:xfrm>
          <a:prstGeom prst="rect">
            <a:avLst/>
          </a:prstGeom>
          <a:noFill/>
          <a:ln/>
        </p:spPr>
        <p:txBody>
          <a:bodyPr wrap="square" lIns="0" tIns="0" rIns="0" bIns="0" rtlCol="0" anchor="ctr"/>
          <a:lstStyle/>
          <a:p>
            <a:pPr marL="0" indent="0" algn="ctr">
              <a:buNone/>
            </a:pPr>
            <a:r>
              <a:rPr lang="en-US" sz="4000" b="1" dirty="0">
                <a:solidFill>
                  <a:schemeClr val="accent2"/>
                </a:solidFill>
              </a:rPr>
              <a:t>4,6%</a:t>
            </a:r>
            <a:endParaRPr lang="en-US" sz="4000" dirty="0"/>
          </a:p>
        </p:txBody>
      </p:sp>
      <p:sp>
        <p:nvSpPr>
          <p:cNvPr id="13" name="Text 10"/>
          <p:cNvSpPr txBox="1"/>
          <p:nvPr/>
        </p:nvSpPr>
        <p:spPr>
          <a:xfrm>
            <a:off x="822960" y="5788152"/>
            <a:ext cx="3840480" cy="438912"/>
          </a:xfrm>
          <a:prstGeom prst="rect">
            <a:avLst/>
          </a:prstGeom>
          <a:noFill/>
          <a:ln/>
        </p:spPr>
        <p:txBody>
          <a:bodyPr wrap="square" lIns="0" tIns="0" rIns="0" bIns="0" rtlCol="0" anchor="t"/>
          <a:lstStyle/>
          <a:p>
            <a:pPr marL="0" indent="0" algn="ctr">
              <a:buNone/>
            </a:pPr>
            <a:r>
              <a:rPr lang="en-US" sz="1300" dirty="0">
                <a:solidFill>
                  <a:schemeClr val="accent4"/>
                </a:solidFill>
              </a:rPr>
              <a:t>sesi lihat produk yang membeli dari keranjang</a:t>
            </a:r>
            <a:endParaRPr lang="en-US" sz="1300" dirty="0"/>
          </a:p>
        </p:txBody>
      </p:sp>
      <p:sp>
        <p:nvSpPr>
          <p:cNvPr id="14" name="Text 11"/>
          <p:cNvSpPr txBox="1"/>
          <p:nvPr/>
        </p:nvSpPr>
        <p:spPr>
          <a:xfrm>
            <a:off x="5394960" y="1828800"/>
            <a:ext cx="640080" cy="365760"/>
          </a:xfrm>
          <a:prstGeom prst="rect">
            <a:avLst/>
          </a:prstGeom>
          <a:noFill/>
          <a:ln/>
        </p:spPr>
        <p:txBody>
          <a:bodyPr wrap="square" lIns="0" tIns="0" rIns="0" bIns="0" rtlCol="0" anchor="t"/>
          <a:lstStyle/>
          <a:p>
            <a:pPr marL="0" indent="0">
              <a:buNone/>
            </a:pPr>
            <a:r>
              <a:rPr lang="en-US" sz="1400" b="1" dirty="0">
                <a:solidFill>
                  <a:schemeClr val="accent2"/>
                </a:solidFill>
              </a:rPr>
              <a:t>01</a:t>
            </a:r>
            <a:endParaRPr lang="en-US" sz="1400" dirty="0"/>
          </a:p>
        </p:txBody>
      </p:sp>
      <p:sp>
        <p:nvSpPr>
          <p:cNvPr id="15" name="Text 12"/>
          <p:cNvSpPr txBox="1"/>
          <p:nvPr/>
        </p:nvSpPr>
        <p:spPr>
          <a:xfrm>
            <a:off x="5943600" y="1828800"/>
            <a:ext cx="5577840" cy="365760"/>
          </a:xfrm>
          <a:prstGeom prst="rect">
            <a:avLst/>
          </a:prstGeom>
          <a:noFill/>
          <a:ln/>
        </p:spPr>
        <p:txBody>
          <a:bodyPr wrap="square" lIns="0" tIns="0" rIns="0" bIns="0" rtlCol="0" anchor="t"/>
          <a:lstStyle/>
          <a:p>
            <a:pPr marL="0" indent="0">
              <a:buNone/>
            </a:pPr>
            <a:r>
              <a:rPr lang="en-US" sz="1800" b="1" dirty="0">
                <a:solidFill>
                  <a:schemeClr val="tx2"/>
                </a:solidFill>
              </a:rPr>
              <a:t>Konteks</a:t>
            </a:r>
            <a:endParaRPr lang="en-US" sz="1800" dirty="0"/>
          </a:p>
        </p:txBody>
      </p:sp>
      <p:sp>
        <p:nvSpPr>
          <p:cNvPr id="16" name="Text 13"/>
          <p:cNvSpPr txBox="1"/>
          <p:nvPr/>
        </p:nvSpPr>
        <p:spPr>
          <a:xfrm>
            <a:off x="5943600" y="2240280"/>
            <a:ext cx="5577840" cy="960120"/>
          </a:xfrm>
          <a:prstGeom prst="rect">
            <a:avLst/>
          </a:prstGeom>
          <a:noFill/>
          <a:ln/>
        </p:spPr>
        <p:txBody>
          <a:bodyPr wrap="square" lIns="0" tIns="0" rIns="0" bIns="0" rtlCol="0" anchor="t"/>
          <a:lstStyle/>
          <a:p>
            <a:pPr marL="0" indent="0">
              <a:buNone/>
            </a:pPr>
            <a:r>
              <a:rPr lang="en-US" sz="1400" dirty="0">
                <a:solidFill>
                  <a:schemeClr val="tx1"/>
                </a:solidFill>
              </a:rPr>
              <a:t>Toko elektronik online (komponen PC, alat tulis, elektronik) mencatat perilaku pengunjung: lihat, keranjang, beli.</a:t>
            </a:r>
            <a:endParaRPr lang="en-US" sz="1400" dirty="0"/>
          </a:p>
        </p:txBody>
      </p:sp>
      <p:sp>
        <p:nvSpPr>
          <p:cNvPr id="17" name="Text 14"/>
          <p:cNvSpPr txBox="1"/>
          <p:nvPr/>
        </p:nvSpPr>
        <p:spPr>
          <a:xfrm>
            <a:off x="5394960" y="3429000"/>
            <a:ext cx="640080" cy="365760"/>
          </a:xfrm>
          <a:prstGeom prst="rect">
            <a:avLst/>
          </a:prstGeom>
          <a:noFill/>
          <a:ln/>
        </p:spPr>
        <p:txBody>
          <a:bodyPr wrap="square" lIns="0" tIns="0" rIns="0" bIns="0" rtlCol="0" anchor="t"/>
          <a:lstStyle/>
          <a:p>
            <a:pPr marL="0" indent="0">
              <a:buNone/>
            </a:pPr>
            <a:r>
              <a:rPr lang="en-US" sz="1400" b="1" dirty="0">
                <a:solidFill>
                  <a:schemeClr val="accent2"/>
                </a:solidFill>
              </a:rPr>
              <a:t>02</a:t>
            </a:r>
            <a:endParaRPr lang="en-US" sz="1400" dirty="0"/>
          </a:p>
        </p:txBody>
      </p:sp>
      <p:sp>
        <p:nvSpPr>
          <p:cNvPr id="18" name="Text 15"/>
          <p:cNvSpPr txBox="1"/>
          <p:nvPr/>
        </p:nvSpPr>
        <p:spPr>
          <a:xfrm>
            <a:off x="5943600" y="3429000"/>
            <a:ext cx="5577840" cy="365760"/>
          </a:xfrm>
          <a:prstGeom prst="rect">
            <a:avLst/>
          </a:prstGeom>
          <a:noFill/>
          <a:ln/>
        </p:spPr>
        <p:txBody>
          <a:bodyPr wrap="square" lIns="0" tIns="0" rIns="0" bIns="0" rtlCol="0" anchor="t"/>
          <a:lstStyle/>
          <a:p>
            <a:pPr marL="0" indent="0">
              <a:buNone/>
            </a:pPr>
            <a:r>
              <a:rPr lang="en-US" sz="1800" b="1" dirty="0">
                <a:solidFill>
                  <a:schemeClr val="tx2"/>
                </a:solidFill>
              </a:rPr>
              <a:t>Mengapa penting</a:t>
            </a:r>
            <a:endParaRPr lang="en-US" sz="1800" dirty="0"/>
          </a:p>
        </p:txBody>
      </p:sp>
      <p:sp>
        <p:nvSpPr>
          <p:cNvPr id="19" name="Text 16"/>
          <p:cNvSpPr txBox="1"/>
          <p:nvPr/>
        </p:nvSpPr>
        <p:spPr>
          <a:xfrm>
            <a:off x="5943600" y="3840480"/>
            <a:ext cx="5577840" cy="960120"/>
          </a:xfrm>
          <a:prstGeom prst="rect">
            <a:avLst/>
          </a:prstGeom>
          <a:noFill/>
          <a:ln/>
        </p:spPr>
        <p:txBody>
          <a:bodyPr wrap="square" lIns="0" tIns="0" rIns="0" bIns="0" rtlCol="0" anchor="t"/>
          <a:lstStyle/>
          <a:p>
            <a:pPr marL="0" indent="0">
              <a:buNone/>
            </a:pPr>
            <a:r>
              <a:rPr lang="en-US" sz="1400" dirty="0">
                <a:solidFill>
                  <a:schemeClr val="tx1"/>
                </a:solidFill>
              </a:rPr>
              <a:t>Menaikkan konversi lihat ke beli sedikit saja menambah pendapatan tanpa biaya trafik baru.</a:t>
            </a:r>
            <a:endParaRPr lang="en-US" sz="1400" dirty="0"/>
          </a:p>
        </p:txBody>
      </p:sp>
      <p:sp>
        <p:nvSpPr>
          <p:cNvPr id="20" name="Text 17"/>
          <p:cNvSpPr txBox="1"/>
          <p:nvPr/>
        </p:nvSpPr>
        <p:spPr>
          <a:xfrm>
            <a:off x="5394960" y="5029200"/>
            <a:ext cx="640080" cy="365760"/>
          </a:xfrm>
          <a:prstGeom prst="rect">
            <a:avLst/>
          </a:prstGeom>
          <a:noFill/>
          <a:ln/>
        </p:spPr>
        <p:txBody>
          <a:bodyPr wrap="square" lIns="0" tIns="0" rIns="0" bIns="0" rtlCol="0" anchor="t"/>
          <a:lstStyle/>
          <a:p>
            <a:pPr marL="0" indent="0">
              <a:buNone/>
            </a:pPr>
            <a:r>
              <a:rPr lang="en-US" sz="1400" b="1" dirty="0">
                <a:solidFill>
                  <a:schemeClr val="accent2"/>
                </a:solidFill>
              </a:rPr>
              <a:t>03</a:t>
            </a:r>
            <a:endParaRPr lang="en-US" sz="1400" dirty="0"/>
          </a:p>
        </p:txBody>
      </p:sp>
      <p:sp>
        <p:nvSpPr>
          <p:cNvPr id="21" name="Text 18"/>
          <p:cNvSpPr txBox="1"/>
          <p:nvPr/>
        </p:nvSpPr>
        <p:spPr>
          <a:xfrm>
            <a:off x="5943600" y="5029200"/>
            <a:ext cx="5577840" cy="365760"/>
          </a:xfrm>
          <a:prstGeom prst="rect">
            <a:avLst/>
          </a:prstGeom>
          <a:noFill/>
          <a:ln/>
        </p:spPr>
        <p:txBody>
          <a:bodyPr wrap="square" lIns="0" tIns="0" rIns="0" bIns="0" rtlCol="0" anchor="t"/>
          <a:lstStyle/>
          <a:p>
            <a:pPr marL="0" indent="0">
              <a:buNone/>
            </a:pPr>
            <a:r>
              <a:rPr lang="en-US" sz="1800" b="1" dirty="0">
                <a:solidFill>
                  <a:schemeClr val="tx2"/>
                </a:solidFill>
              </a:rPr>
              <a:t>Penerima manfaat</a:t>
            </a:r>
            <a:endParaRPr lang="en-US" sz="1800" dirty="0"/>
          </a:p>
        </p:txBody>
      </p:sp>
      <p:sp>
        <p:nvSpPr>
          <p:cNvPr id="22" name="Text 19"/>
          <p:cNvSpPr txBox="1"/>
          <p:nvPr/>
        </p:nvSpPr>
        <p:spPr>
          <a:xfrm>
            <a:off x="5943600" y="5440680"/>
            <a:ext cx="5577840" cy="960120"/>
          </a:xfrm>
          <a:prstGeom prst="rect">
            <a:avLst/>
          </a:prstGeom>
          <a:noFill/>
          <a:ln/>
        </p:spPr>
        <p:txBody>
          <a:bodyPr wrap="square" lIns="0" tIns="0" rIns="0" bIns="0" rtlCol="0" anchor="t"/>
          <a:lstStyle/>
          <a:p>
            <a:pPr marL="0" indent="0">
              <a:buNone/>
            </a:pPr>
            <a:r>
              <a:rPr lang="en-US" sz="1400" dirty="0">
                <a:solidFill>
                  <a:schemeClr val="tx1"/>
                </a:solidFill>
              </a:rPr>
              <a:t>Tim marketing (promosi), tim produk (katalog dan rekomendasi), dan manajemen (pendapatan).</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2"/>
                </a:solidFill>
              </a:rPr>
              <a:t>03 — Business Problem</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tx2"/>
                </a:solidFill>
              </a:rPr>
              <a:t>Business Problem</a:t>
            </a:r>
            <a:endParaRPr lang="en-US" sz="3000" dirty="0"/>
          </a:p>
        </p:txBody>
      </p:sp>
      <p:sp>
        <p:nvSpPr>
          <p:cNvPr id="5" name="problem-banner"/>
          <p:cNvSpPr/>
          <p:nvPr/>
        </p:nvSpPr>
        <p:spPr>
          <a:xfrm>
            <a:off x="640080" y="1783080"/>
            <a:ext cx="10908792" cy="960120"/>
          </a:xfrm>
          <a:prstGeom prst="roundRect">
            <a:avLst>
              <a:gd name="adj" fmla="val 7619"/>
            </a:avLst>
          </a:prstGeom>
          <a:solidFill>
            <a:schemeClr val="tx2"/>
          </a:solidFill>
          <a:ln w="9525">
            <a:solidFill>
              <a:schemeClr val="accent6"/>
            </a:solidFill>
            <a:prstDash val="solid"/>
          </a:ln>
        </p:spPr>
      </p:sp>
      <p:sp>
        <p:nvSpPr>
          <p:cNvPr id="6" name="Text 3"/>
          <p:cNvSpPr txBox="1"/>
          <p:nvPr/>
        </p:nvSpPr>
        <p:spPr>
          <a:xfrm>
            <a:off x="914400" y="1783080"/>
            <a:ext cx="10332720" cy="960120"/>
          </a:xfrm>
          <a:prstGeom prst="rect">
            <a:avLst/>
          </a:prstGeom>
          <a:noFill/>
          <a:ln/>
        </p:spPr>
        <p:txBody>
          <a:bodyPr wrap="square" lIns="0" tIns="0" rIns="0" bIns="0" rtlCol="0" anchor="ctr"/>
          <a:lstStyle/>
          <a:p>
            <a:pPr marL="0" indent="0">
              <a:buNone/>
            </a:pPr>
            <a:r>
              <a:rPr lang="en-US" sz="1900" b="1" dirty="0">
                <a:solidFill>
                  <a:schemeClr val="bg1"/>
                </a:solidFill>
              </a:rPr>
              <a:t>Mengapa 95,4% sesi yang melihat produk tidak berakhir dengan pembelian dari keranjang, di tahap mana sesi hilang, dan faktor apa yang bisa diubah toko?</a:t>
            </a:r>
            <a:endParaRPr lang="en-US" sz="1900" dirty="0"/>
          </a:p>
        </p:txBody>
      </p:sp>
      <p:sp>
        <p:nvSpPr>
          <p:cNvPr id="7" name="bq-card"/>
          <p:cNvSpPr/>
          <p:nvPr/>
        </p:nvSpPr>
        <p:spPr>
          <a:xfrm>
            <a:off x="640080" y="2971800"/>
            <a:ext cx="2606040" cy="1783080"/>
          </a:xfrm>
          <a:prstGeom prst="roundRect">
            <a:avLst>
              <a:gd name="adj" fmla="val 4103"/>
            </a:avLst>
          </a:prstGeom>
          <a:solidFill>
            <a:schemeClr val="bg1"/>
          </a:solidFill>
          <a:ln w="9525">
            <a:solidFill>
              <a:srgbClr val="E0E1DF"/>
            </a:solidFill>
            <a:prstDash val="solid"/>
          </a:ln>
        </p:spPr>
      </p:sp>
      <p:sp>
        <p:nvSpPr>
          <p:cNvPr id="8" name="Text 5"/>
          <p:cNvSpPr txBox="1"/>
          <p:nvPr/>
        </p:nvSpPr>
        <p:spPr>
          <a:xfrm>
            <a:off x="868680" y="3154680"/>
            <a:ext cx="2148840" cy="320040"/>
          </a:xfrm>
          <a:prstGeom prst="rect">
            <a:avLst/>
          </a:prstGeom>
          <a:noFill/>
          <a:ln/>
        </p:spPr>
        <p:txBody>
          <a:bodyPr wrap="square" lIns="0" tIns="0" rIns="0" bIns="0" rtlCol="0" anchor="t"/>
          <a:lstStyle/>
          <a:p>
            <a:pPr marL="0" indent="0">
              <a:buNone/>
            </a:pPr>
            <a:r>
              <a:rPr lang="en-US" sz="1600" b="1" dirty="0">
                <a:solidFill>
                  <a:schemeClr val="accent1"/>
                </a:solidFill>
              </a:rPr>
              <a:t>BQ1</a:t>
            </a:r>
            <a:endParaRPr lang="en-US" sz="1600" dirty="0"/>
          </a:p>
        </p:txBody>
      </p:sp>
      <p:sp>
        <p:nvSpPr>
          <p:cNvPr id="9" name="Text 6"/>
          <p:cNvSpPr txBox="1"/>
          <p:nvPr/>
        </p:nvSpPr>
        <p:spPr>
          <a:xfrm>
            <a:off x="868680" y="3566160"/>
            <a:ext cx="2148840" cy="1097280"/>
          </a:xfrm>
          <a:prstGeom prst="rect">
            <a:avLst/>
          </a:prstGeom>
          <a:noFill/>
          <a:ln/>
        </p:spPr>
        <p:txBody>
          <a:bodyPr wrap="square" lIns="0" tIns="0" rIns="0" bIns="0" rtlCol="0" anchor="t"/>
          <a:lstStyle/>
          <a:p>
            <a:pPr marL="0" indent="0">
              <a:buNone/>
            </a:pPr>
            <a:r>
              <a:rPr lang="en-US" sz="1400" dirty="0">
                <a:solidFill>
                  <a:schemeClr val="tx1"/>
                </a:solidFill>
              </a:rPr>
              <a:t>Seberapa besar masalahnya, dan di tahap mana sesi hilang?</a:t>
            </a:r>
            <a:endParaRPr lang="en-US" sz="1400" dirty="0"/>
          </a:p>
        </p:txBody>
      </p:sp>
      <p:sp>
        <p:nvSpPr>
          <p:cNvPr id="10" name="bq-card"/>
          <p:cNvSpPr/>
          <p:nvPr/>
        </p:nvSpPr>
        <p:spPr>
          <a:xfrm>
            <a:off x="3410712" y="2971800"/>
            <a:ext cx="2606040" cy="1783080"/>
          </a:xfrm>
          <a:prstGeom prst="roundRect">
            <a:avLst>
              <a:gd name="adj" fmla="val 4103"/>
            </a:avLst>
          </a:prstGeom>
          <a:solidFill>
            <a:schemeClr val="bg1"/>
          </a:solidFill>
          <a:ln w="9525">
            <a:solidFill>
              <a:srgbClr val="E0E1DF"/>
            </a:solidFill>
            <a:prstDash val="solid"/>
          </a:ln>
        </p:spPr>
      </p:sp>
      <p:sp>
        <p:nvSpPr>
          <p:cNvPr id="11" name="Text 8"/>
          <p:cNvSpPr txBox="1"/>
          <p:nvPr/>
        </p:nvSpPr>
        <p:spPr>
          <a:xfrm>
            <a:off x="3639312" y="3154680"/>
            <a:ext cx="2148840" cy="320040"/>
          </a:xfrm>
          <a:prstGeom prst="rect">
            <a:avLst/>
          </a:prstGeom>
          <a:noFill/>
          <a:ln/>
        </p:spPr>
        <p:txBody>
          <a:bodyPr wrap="square" lIns="0" tIns="0" rIns="0" bIns="0" rtlCol="0" anchor="t"/>
          <a:lstStyle/>
          <a:p>
            <a:pPr marL="0" indent="0">
              <a:buNone/>
            </a:pPr>
            <a:r>
              <a:rPr lang="en-US" sz="1600" b="1" dirty="0">
                <a:solidFill>
                  <a:schemeClr val="accent1"/>
                </a:solidFill>
              </a:rPr>
              <a:t>BQ2</a:t>
            </a:r>
            <a:endParaRPr lang="en-US" sz="1600" dirty="0"/>
          </a:p>
        </p:txBody>
      </p:sp>
      <p:sp>
        <p:nvSpPr>
          <p:cNvPr id="12" name="Text 9"/>
          <p:cNvSpPr txBox="1"/>
          <p:nvPr/>
        </p:nvSpPr>
        <p:spPr>
          <a:xfrm>
            <a:off x="3639312" y="3566160"/>
            <a:ext cx="2148840" cy="1097280"/>
          </a:xfrm>
          <a:prstGeom prst="rect">
            <a:avLst/>
          </a:prstGeom>
          <a:noFill/>
          <a:ln/>
        </p:spPr>
        <p:txBody>
          <a:bodyPr wrap="square" lIns="0" tIns="0" rIns="0" bIns="0" rtlCol="0" anchor="t"/>
          <a:lstStyle/>
          <a:p>
            <a:pPr marL="0" indent="0">
              <a:buNone/>
            </a:pPr>
            <a:r>
              <a:rPr lang="en-US" sz="1400" dirty="0">
                <a:solidFill>
                  <a:schemeClr val="tx1"/>
                </a:solidFill>
              </a:rPr>
              <a:t>Siapa yang tidak membeli (kedalaman browsing, kunjungan pertama vs kembali)?</a:t>
            </a:r>
            <a:endParaRPr lang="en-US" sz="1400" dirty="0"/>
          </a:p>
        </p:txBody>
      </p:sp>
      <p:sp>
        <p:nvSpPr>
          <p:cNvPr id="13" name="bq-card"/>
          <p:cNvSpPr/>
          <p:nvPr/>
        </p:nvSpPr>
        <p:spPr>
          <a:xfrm>
            <a:off x="6181344" y="2971800"/>
            <a:ext cx="2606040" cy="1783080"/>
          </a:xfrm>
          <a:prstGeom prst="roundRect">
            <a:avLst>
              <a:gd name="adj" fmla="val 4103"/>
            </a:avLst>
          </a:prstGeom>
          <a:solidFill>
            <a:schemeClr val="bg1"/>
          </a:solidFill>
          <a:ln w="9525">
            <a:solidFill>
              <a:srgbClr val="E0E1DF"/>
            </a:solidFill>
            <a:prstDash val="solid"/>
          </a:ln>
        </p:spPr>
      </p:sp>
      <p:sp>
        <p:nvSpPr>
          <p:cNvPr id="14" name="Text 11"/>
          <p:cNvSpPr txBox="1"/>
          <p:nvPr/>
        </p:nvSpPr>
        <p:spPr>
          <a:xfrm>
            <a:off x="6409944" y="3154680"/>
            <a:ext cx="2148840" cy="320040"/>
          </a:xfrm>
          <a:prstGeom prst="rect">
            <a:avLst/>
          </a:prstGeom>
          <a:noFill/>
          <a:ln/>
        </p:spPr>
        <p:txBody>
          <a:bodyPr wrap="square" lIns="0" tIns="0" rIns="0" bIns="0" rtlCol="0" anchor="t"/>
          <a:lstStyle/>
          <a:p>
            <a:pPr marL="0" indent="0">
              <a:buNone/>
            </a:pPr>
            <a:r>
              <a:rPr lang="en-US" sz="1600" b="1" dirty="0">
                <a:solidFill>
                  <a:schemeClr val="accent1"/>
                </a:solidFill>
              </a:rPr>
              <a:t>BQ3</a:t>
            </a:r>
            <a:endParaRPr lang="en-US" sz="1600" dirty="0"/>
          </a:p>
        </p:txBody>
      </p:sp>
      <p:sp>
        <p:nvSpPr>
          <p:cNvPr id="15" name="Text 12"/>
          <p:cNvSpPr txBox="1"/>
          <p:nvPr/>
        </p:nvSpPr>
        <p:spPr>
          <a:xfrm>
            <a:off x="6409944" y="3566160"/>
            <a:ext cx="2148840" cy="1097280"/>
          </a:xfrm>
          <a:prstGeom prst="rect">
            <a:avLst/>
          </a:prstGeom>
          <a:noFill/>
          <a:ln/>
        </p:spPr>
        <p:txBody>
          <a:bodyPr wrap="square" lIns="0" tIns="0" rIns="0" bIns="0" rtlCol="0" anchor="t"/>
          <a:lstStyle/>
          <a:p>
            <a:pPr marL="0" indent="0">
              <a:buNone/>
            </a:pPr>
            <a:r>
              <a:rPr lang="en-US" sz="1400" dirty="0">
                <a:solidFill>
                  <a:schemeClr val="tx1"/>
                </a:solidFill>
              </a:rPr>
              <a:t>Apa yang mereka lihat (popularitas, kategori, harga) dan kapan?</a:t>
            </a:r>
            <a:endParaRPr lang="en-US" sz="1400" dirty="0"/>
          </a:p>
        </p:txBody>
      </p:sp>
      <p:sp>
        <p:nvSpPr>
          <p:cNvPr id="16" name="bq-card"/>
          <p:cNvSpPr/>
          <p:nvPr/>
        </p:nvSpPr>
        <p:spPr>
          <a:xfrm>
            <a:off x="8951976" y="2971800"/>
            <a:ext cx="2606040" cy="1783080"/>
          </a:xfrm>
          <a:prstGeom prst="roundRect">
            <a:avLst>
              <a:gd name="adj" fmla="val 4103"/>
            </a:avLst>
          </a:prstGeom>
          <a:solidFill>
            <a:schemeClr val="bg1"/>
          </a:solidFill>
          <a:ln w="9525">
            <a:solidFill>
              <a:srgbClr val="E0E1DF"/>
            </a:solidFill>
            <a:prstDash val="solid"/>
          </a:ln>
        </p:spPr>
      </p:sp>
      <p:sp>
        <p:nvSpPr>
          <p:cNvPr id="17" name="Text 14"/>
          <p:cNvSpPr txBox="1"/>
          <p:nvPr/>
        </p:nvSpPr>
        <p:spPr>
          <a:xfrm>
            <a:off x="9180576" y="3154680"/>
            <a:ext cx="2148840" cy="320040"/>
          </a:xfrm>
          <a:prstGeom prst="rect">
            <a:avLst/>
          </a:prstGeom>
          <a:noFill/>
          <a:ln/>
        </p:spPr>
        <p:txBody>
          <a:bodyPr wrap="square" lIns="0" tIns="0" rIns="0" bIns="0" rtlCol="0" anchor="t"/>
          <a:lstStyle/>
          <a:p>
            <a:pPr marL="0" indent="0">
              <a:buNone/>
            </a:pPr>
            <a:r>
              <a:rPr lang="en-US" sz="1600" b="1" dirty="0">
                <a:solidFill>
                  <a:schemeClr val="accent1"/>
                </a:solidFill>
              </a:rPr>
              <a:t>BQ4</a:t>
            </a:r>
            <a:endParaRPr lang="en-US" sz="1600" dirty="0"/>
          </a:p>
        </p:txBody>
      </p:sp>
      <p:sp>
        <p:nvSpPr>
          <p:cNvPr id="18" name="Text 15"/>
          <p:cNvSpPr txBox="1"/>
          <p:nvPr/>
        </p:nvSpPr>
        <p:spPr>
          <a:xfrm>
            <a:off x="9180576" y="3566160"/>
            <a:ext cx="2148840" cy="1097280"/>
          </a:xfrm>
          <a:prstGeom prst="rect">
            <a:avLst/>
          </a:prstGeom>
          <a:noFill/>
          <a:ln/>
        </p:spPr>
        <p:txBody>
          <a:bodyPr wrap="square" lIns="0" tIns="0" rIns="0" bIns="0" rtlCol="0" anchor="t"/>
          <a:lstStyle/>
          <a:p>
            <a:pPr marL="0" indent="0">
              <a:buNone/>
            </a:pPr>
            <a:r>
              <a:rPr lang="en-US" sz="1400" dirty="0">
                <a:solidFill>
                  <a:schemeClr val="tx1"/>
                </a:solidFill>
              </a:rPr>
              <a:t>Faktor mana yang paling membedakan pembeli di tiap tahap?</a:t>
            </a:r>
            <a:endParaRPr lang="en-US" sz="1400" dirty="0"/>
          </a:p>
        </p:txBody>
      </p:sp>
      <p:sp>
        <p:nvSpPr>
          <p:cNvPr id="19" name="definition-card"/>
          <p:cNvSpPr/>
          <p:nvPr/>
        </p:nvSpPr>
        <p:spPr>
          <a:xfrm>
            <a:off x="640080" y="4983480"/>
            <a:ext cx="10908792" cy="1280160"/>
          </a:xfrm>
          <a:prstGeom prst="roundRect">
            <a:avLst>
              <a:gd name="adj" fmla="val 5714"/>
            </a:avLst>
          </a:prstGeom>
          <a:solidFill>
            <a:schemeClr val="bg1"/>
          </a:solidFill>
          <a:ln w="9525">
            <a:solidFill>
              <a:srgbClr val="E0E1DF"/>
            </a:solidFill>
            <a:prstDash val="solid"/>
          </a:ln>
        </p:spPr>
      </p:sp>
      <p:sp>
        <p:nvSpPr>
          <p:cNvPr id="20" name="Text 17"/>
          <p:cNvSpPr txBox="1"/>
          <p:nvPr/>
        </p:nvSpPr>
        <p:spPr>
          <a:xfrm>
            <a:off x="914400" y="5120640"/>
            <a:ext cx="2743200" cy="274320"/>
          </a:xfrm>
          <a:prstGeom prst="rect">
            <a:avLst/>
          </a:prstGeom>
          <a:noFill/>
          <a:ln/>
        </p:spPr>
        <p:txBody>
          <a:bodyPr wrap="square" lIns="0" tIns="0" rIns="0" bIns="0" rtlCol="0" anchor="t"/>
          <a:lstStyle/>
          <a:p>
            <a:pPr marL="0" indent="0">
              <a:buNone/>
            </a:pPr>
            <a:r>
              <a:rPr lang="en-US" sz="1400" b="1" dirty="0">
                <a:solidFill>
                  <a:schemeClr val="accent2"/>
                </a:solidFill>
              </a:rPr>
              <a:t>Definisi</a:t>
            </a:r>
            <a:endParaRPr lang="en-US" sz="1400" dirty="0"/>
          </a:p>
        </p:txBody>
      </p:sp>
      <p:sp>
        <p:nvSpPr>
          <p:cNvPr id="21" name="Text 18"/>
          <p:cNvSpPr txBox="1"/>
          <p:nvPr/>
        </p:nvSpPr>
        <p:spPr>
          <a:xfrm>
            <a:off x="914400" y="5440680"/>
            <a:ext cx="10332720" cy="731520"/>
          </a:xfrm>
          <a:prstGeom prst="rect">
            <a:avLst/>
          </a:prstGeom>
          <a:noFill/>
          <a:ln/>
        </p:spPr>
        <p:txBody>
          <a:bodyPr wrap="square" lIns="0" tIns="0" rIns="0" bIns="0" rtlCol="0" anchor="t"/>
          <a:lstStyle/>
          <a:p>
            <a:pPr marL="0" indent="0">
              <a:buNone/>
            </a:pPr>
            <a:r>
              <a:rPr lang="en-US" sz="1400" b="1" dirty="0">
                <a:solidFill>
                  <a:schemeClr val="tx1"/>
                </a:solidFill>
              </a:rPr>
              <a:t>Konversi lihat → beli: </a:t>
            </a:r>
            <a:r>
              <a:rPr lang="en-US" sz="1400" dirty="0">
                <a:solidFill>
                  <a:schemeClr val="tx1"/>
                </a:solidFill>
              </a:rPr>
              <a:t>sesi dengan view, cart, dan purchase ÷ sesi dengan view = P(keranjang) × P(beli | keranjang).  </a:t>
            </a:r>
            <a:r>
              <a:rPr lang="en-US" sz="1400" b="1" dirty="0">
                <a:solidFill>
                  <a:schemeClr val="tx1"/>
                </a:solidFill>
              </a:rPr>
              <a:t>Dua titik bocor: </a:t>
            </a:r>
            <a:r>
              <a:rPr lang="en-US" sz="1400" dirty="0">
                <a:solidFill>
                  <a:schemeClr val="tx1"/>
                </a:solidFill>
              </a:rPr>
              <a:t>tidak ke keranjang dan keranjang ditinggalkan.  </a:t>
            </a:r>
            <a:r>
              <a:rPr lang="en-US" sz="1400" b="1" dirty="0">
                <a:solidFill>
                  <a:schemeClr val="tx1"/>
                </a:solidFill>
              </a:rPr>
              <a:t>Fitur sesi: </a:t>
            </a:r>
            <a:r>
              <a:rPr lang="en-US" sz="1400" dirty="0">
                <a:solidFill>
                  <a:schemeClr val="tx1"/>
                </a:solidFill>
              </a:rPr>
              <a:t>dihitung dari view sebelum keputusan agar tidak membocorkan hasil.</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3"/>
                </a:solidFill>
              </a:rPr>
              <a:t>03 — Business Problem</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bg1"/>
                </a:solidFill>
              </a:rPr>
              <a:t>Analytical Approach</a:t>
            </a:r>
            <a:endParaRPr lang="en-US" sz="3000" dirty="0"/>
          </a:p>
        </p:txBody>
      </p:sp>
      <p:sp>
        <p:nvSpPr>
          <p:cNvPr id="5" name="step-card"/>
          <p:cNvSpPr/>
          <p:nvPr/>
        </p:nvSpPr>
        <p:spPr>
          <a:xfrm>
            <a:off x="640080" y="1828800"/>
            <a:ext cx="10908792" cy="932688"/>
          </a:xfrm>
          <a:prstGeom prst="roundRect">
            <a:avLst>
              <a:gd name="adj" fmla="val 7843"/>
            </a:avLst>
          </a:prstGeom>
          <a:solidFill>
            <a:schemeClr val="accent5"/>
          </a:solidFill>
          <a:ln w="9525">
            <a:solidFill>
              <a:schemeClr val="accent6"/>
            </a:solidFill>
            <a:prstDash val="solid"/>
          </a:ln>
        </p:spPr>
      </p:sp>
      <p:sp>
        <p:nvSpPr>
          <p:cNvPr id="6" name="Text 3"/>
          <p:cNvSpPr txBox="1"/>
          <p:nvPr/>
        </p:nvSpPr>
        <p:spPr>
          <a:xfrm>
            <a:off x="868680" y="1828800"/>
            <a:ext cx="457200" cy="932688"/>
          </a:xfrm>
          <a:prstGeom prst="rect">
            <a:avLst/>
          </a:prstGeom>
          <a:noFill/>
          <a:ln/>
        </p:spPr>
        <p:txBody>
          <a:bodyPr wrap="square" lIns="0" tIns="0" rIns="0" bIns="0" rtlCol="0" anchor="ctr"/>
          <a:lstStyle/>
          <a:p>
            <a:pPr marL="0" indent="0">
              <a:buNone/>
            </a:pPr>
            <a:r>
              <a:rPr lang="en-US" sz="2400" b="1" dirty="0">
                <a:solidFill>
                  <a:schemeClr val="accent3"/>
                </a:solidFill>
              </a:rPr>
              <a:t>1</a:t>
            </a:r>
            <a:endParaRPr lang="en-US" sz="2400" dirty="0"/>
          </a:p>
        </p:txBody>
      </p:sp>
      <p:sp>
        <p:nvSpPr>
          <p:cNvPr id="7" name="Text 4"/>
          <p:cNvSpPr txBox="1"/>
          <p:nvPr/>
        </p:nvSpPr>
        <p:spPr>
          <a:xfrm>
            <a:off x="1463040" y="1828800"/>
            <a:ext cx="2743200" cy="932688"/>
          </a:xfrm>
          <a:prstGeom prst="rect">
            <a:avLst/>
          </a:prstGeom>
          <a:noFill/>
          <a:ln/>
        </p:spPr>
        <p:txBody>
          <a:bodyPr wrap="square" lIns="0" tIns="0" rIns="0" bIns="0" rtlCol="0" anchor="ctr"/>
          <a:lstStyle/>
          <a:p>
            <a:pPr marL="0" indent="0">
              <a:buNone/>
            </a:pPr>
            <a:r>
              <a:rPr lang="en-US" sz="1600" b="1" dirty="0">
                <a:solidFill>
                  <a:schemeClr val="bg1"/>
                </a:solidFill>
              </a:rPr>
              <a:t>Descriptive Analysis</a:t>
            </a:r>
            <a:endParaRPr lang="en-US" sz="1600" dirty="0"/>
          </a:p>
        </p:txBody>
      </p:sp>
      <p:sp>
        <p:nvSpPr>
          <p:cNvPr id="8" name="Text 5"/>
          <p:cNvSpPr txBox="1"/>
          <p:nvPr/>
        </p:nvSpPr>
        <p:spPr>
          <a:xfrm>
            <a:off x="4297680" y="1828800"/>
            <a:ext cx="6949440" cy="932688"/>
          </a:xfrm>
          <a:prstGeom prst="rect">
            <a:avLst/>
          </a:prstGeom>
          <a:noFill/>
          <a:ln/>
        </p:spPr>
        <p:txBody>
          <a:bodyPr wrap="square" lIns="0" tIns="0" rIns="0" bIns="0" rtlCol="0" anchor="ctr"/>
          <a:lstStyle/>
          <a:p>
            <a:pPr marL="0" indent="0">
              <a:buNone/>
            </a:pPr>
            <a:r>
              <a:rPr lang="en-US" sz="1400" dirty="0">
                <a:solidFill>
                  <a:srgbClr val="C7CFDA"/>
                </a:solidFill>
              </a:rPr>
              <a:t>Funnel sesi lihat → keranjang → beli, dekomposisi konversi, dan KPI untuk mengukur titik bocor (BQ1).</a:t>
            </a:r>
            <a:endParaRPr lang="en-US" sz="1400" dirty="0"/>
          </a:p>
        </p:txBody>
      </p:sp>
      <p:sp>
        <p:nvSpPr>
          <p:cNvPr id="9" name="step-card"/>
          <p:cNvSpPr/>
          <p:nvPr/>
        </p:nvSpPr>
        <p:spPr>
          <a:xfrm>
            <a:off x="640080" y="2926080"/>
            <a:ext cx="10908792" cy="932688"/>
          </a:xfrm>
          <a:prstGeom prst="roundRect">
            <a:avLst>
              <a:gd name="adj" fmla="val 7843"/>
            </a:avLst>
          </a:prstGeom>
          <a:solidFill>
            <a:schemeClr val="accent5"/>
          </a:solidFill>
          <a:ln w="9525">
            <a:solidFill>
              <a:schemeClr val="accent6"/>
            </a:solidFill>
            <a:prstDash val="solid"/>
          </a:ln>
        </p:spPr>
      </p:sp>
      <p:sp>
        <p:nvSpPr>
          <p:cNvPr id="10" name="Text 7"/>
          <p:cNvSpPr txBox="1"/>
          <p:nvPr/>
        </p:nvSpPr>
        <p:spPr>
          <a:xfrm>
            <a:off x="868680" y="2926080"/>
            <a:ext cx="457200" cy="932688"/>
          </a:xfrm>
          <a:prstGeom prst="rect">
            <a:avLst/>
          </a:prstGeom>
          <a:noFill/>
          <a:ln/>
        </p:spPr>
        <p:txBody>
          <a:bodyPr wrap="square" lIns="0" tIns="0" rIns="0" bIns="0" rtlCol="0" anchor="ctr"/>
          <a:lstStyle/>
          <a:p>
            <a:pPr marL="0" indent="0">
              <a:buNone/>
            </a:pPr>
            <a:r>
              <a:rPr lang="en-US" sz="2400" b="1" dirty="0">
                <a:solidFill>
                  <a:schemeClr val="accent3"/>
                </a:solidFill>
              </a:rPr>
              <a:t>2</a:t>
            </a:r>
            <a:endParaRPr lang="en-US" sz="2400" dirty="0"/>
          </a:p>
        </p:txBody>
      </p:sp>
      <p:sp>
        <p:nvSpPr>
          <p:cNvPr id="11" name="Text 8"/>
          <p:cNvSpPr txBox="1"/>
          <p:nvPr/>
        </p:nvSpPr>
        <p:spPr>
          <a:xfrm>
            <a:off x="1463040" y="2926080"/>
            <a:ext cx="2743200" cy="932688"/>
          </a:xfrm>
          <a:prstGeom prst="rect">
            <a:avLst/>
          </a:prstGeom>
          <a:noFill/>
          <a:ln/>
        </p:spPr>
        <p:txBody>
          <a:bodyPr wrap="square" lIns="0" tIns="0" rIns="0" bIns="0" rtlCol="0" anchor="ctr"/>
          <a:lstStyle/>
          <a:p>
            <a:pPr marL="0" indent="0">
              <a:buNone/>
            </a:pPr>
            <a:r>
              <a:rPr lang="en-US" sz="1600" b="1" dirty="0">
                <a:solidFill>
                  <a:schemeClr val="bg1"/>
                </a:solidFill>
              </a:rPr>
              <a:t>Diagnostic Analysis</a:t>
            </a:r>
            <a:endParaRPr lang="en-US" sz="1600" dirty="0"/>
          </a:p>
        </p:txBody>
      </p:sp>
      <p:sp>
        <p:nvSpPr>
          <p:cNvPr id="12" name="Text 9"/>
          <p:cNvSpPr txBox="1"/>
          <p:nvPr/>
        </p:nvSpPr>
        <p:spPr>
          <a:xfrm>
            <a:off x="4297680" y="2926080"/>
            <a:ext cx="6949440" cy="932688"/>
          </a:xfrm>
          <a:prstGeom prst="rect">
            <a:avLst/>
          </a:prstGeom>
          <a:noFill/>
          <a:ln/>
        </p:spPr>
        <p:txBody>
          <a:bodyPr wrap="square" lIns="0" tIns="0" rIns="0" bIns="0" rtlCol="0" anchor="ctr"/>
          <a:lstStyle/>
          <a:p>
            <a:pPr marL="0" indent="0">
              <a:buNone/>
            </a:pPr>
            <a:r>
              <a:rPr lang="en-US" sz="1400" dirty="0">
                <a:solidFill>
                  <a:srgbClr val="C7CFDA"/>
                </a:solidFill>
              </a:rPr>
              <a:t>Konversi lihat → beli per kedalaman browsing, jenis kunjungan, popularitas produk, kategori, harga, dan waktu (BQ2, BQ3).</a:t>
            </a:r>
            <a:endParaRPr lang="en-US" sz="1400" dirty="0"/>
          </a:p>
        </p:txBody>
      </p:sp>
      <p:sp>
        <p:nvSpPr>
          <p:cNvPr id="13" name="step-card"/>
          <p:cNvSpPr/>
          <p:nvPr/>
        </p:nvSpPr>
        <p:spPr>
          <a:xfrm>
            <a:off x="640080" y="4023360"/>
            <a:ext cx="10908792" cy="932688"/>
          </a:xfrm>
          <a:prstGeom prst="roundRect">
            <a:avLst>
              <a:gd name="adj" fmla="val 7843"/>
            </a:avLst>
          </a:prstGeom>
          <a:solidFill>
            <a:schemeClr val="accent5"/>
          </a:solidFill>
          <a:ln w="9525">
            <a:solidFill>
              <a:schemeClr val="accent6"/>
            </a:solidFill>
            <a:prstDash val="solid"/>
          </a:ln>
        </p:spPr>
      </p:sp>
      <p:sp>
        <p:nvSpPr>
          <p:cNvPr id="14" name="Text 11"/>
          <p:cNvSpPr txBox="1"/>
          <p:nvPr/>
        </p:nvSpPr>
        <p:spPr>
          <a:xfrm>
            <a:off x="868680" y="4023360"/>
            <a:ext cx="457200" cy="932688"/>
          </a:xfrm>
          <a:prstGeom prst="rect">
            <a:avLst/>
          </a:prstGeom>
          <a:noFill/>
          <a:ln/>
        </p:spPr>
        <p:txBody>
          <a:bodyPr wrap="square" lIns="0" tIns="0" rIns="0" bIns="0" rtlCol="0" anchor="ctr"/>
          <a:lstStyle/>
          <a:p>
            <a:pPr marL="0" indent="0">
              <a:buNone/>
            </a:pPr>
            <a:r>
              <a:rPr lang="en-US" sz="2400" b="1" dirty="0">
                <a:solidFill>
                  <a:schemeClr val="accent3"/>
                </a:solidFill>
              </a:rPr>
              <a:t>3</a:t>
            </a:r>
            <a:endParaRPr lang="en-US" sz="2400" dirty="0"/>
          </a:p>
        </p:txBody>
      </p:sp>
      <p:sp>
        <p:nvSpPr>
          <p:cNvPr id="15" name="Text 12"/>
          <p:cNvSpPr txBox="1"/>
          <p:nvPr/>
        </p:nvSpPr>
        <p:spPr>
          <a:xfrm>
            <a:off x="1463040" y="4023360"/>
            <a:ext cx="2743200" cy="932688"/>
          </a:xfrm>
          <a:prstGeom prst="rect">
            <a:avLst/>
          </a:prstGeom>
          <a:noFill/>
          <a:ln/>
        </p:spPr>
        <p:txBody>
          <a:bodyPr wrap="square" lIns="0" tIns="0" rIns="0" bIns="0" rtlCol="0" anchor="ctr"/>
          <a:lstStyle/>
          <a:p>
            <a:pPr marL="0" indent="0">
              <a:buNone/>
            </a:pPr>
            <a:r>
              <a:rPr lang="en-US" sz="1600" b="1" dirty="0">
                <a:solidFill>
                  <a:schemeClr val="bg1"/>
                </a:solidFill>
              </a:rPr>
              <a:t>Explanatory Model</a:t>
            </a:r>
            <a:endParaRPr lang="en-US" sz="1600" dirty="0"/>
          </a:p>
        </p:txBody>
      </p:sp>
      <p:sp>
        <p:nvSpPr>
          <p:cNvPr id="16" name="Text 13"/>
          <p:cNvSpPr txBox="1"/>
          <p:nvPr/>
        </p:nvSpPr>
        <p:spPr>
          <a:xfrm>
            <a:off x="4297680" y="4023360"/>
            <a:ext cx="6949440" cy="932688"/>
          </a:xfrm>
          <a:prstGeom prst="rect">
            <a:avLst/>
          </a:prstGeom>
          <a:noFill/>
          <a:ln/>
        </p:spPr>
        <p:txBody>
          <a:bodyPr wrap="square" lIns="0" tIns="0" rIns="0" bIns="0" rtlCol="0" anchor="ctr"/>
          <a:lstStyle/>
          <a:p>
            <a:pPr marL="0" indent="0">
              <a:buNone/>
            </a:pPr>
            <a:r>
              <a:rPr lang="en-US" sz="1400" dirty="0">
                <a:solidFill>
                  <a:srgbClr val="C7CFDA"/>
                </a:solidFill>
              </a:rPr>
              <a:t>Regresi logistik dua tahap (lihat → beli dan keranjang → beli) dengan uji buang-kelompok-fitur pada data uji 25% (BQ4).</a:t>
            </a:r>
            <a:endParaRPr lang="en-US" sz="1400" dirty="0"/>
          </a:p>
        </p:txBody>
      </p:sp>
      <p:sp>
        <p:nvSpPr>
          <p:cNvPr id="17" name="step-card"/>
          <p:cNvSpPr/>
          <p:nvPr/>
        </p:nvSpPr>
        <p:spPr>
          <a:xfrm>
            <a:off x="640080" y="5120640"/>
            <a:ext cx="10908792" cy="932688"/>
          </a:xfrm>
          <a:prstGeom prst="roundRect">
            <a:avLst>
              <a:gd name="adj" fmla="val 7843"/>
            </a:avLst>
          </a:prstGeom>
          <a:solidFill>
            <a:schemeClr val="accent5"/>
          </a:solidFill>
          <a:ln w="9525">
            <a:solidFill>
              <a:schemeClr val="accent6"/>
            </a:solidFill>
            <a:prstDash val="solid"/>
          </a:ln>
        </p:spPr>
      </p:sp>
      <p:sp>
        <p:nvSpPr>
          <p:cNvPr id="18" name="Text 15"/>
          <p:cNvSpPr txBox="1"/>
          <p:nvPr/>
        </p:nvSpPr>
        <p:spPr>
          <a:xfrm>
            <a:off x="868680" y="5120640"/>
            <a:ext cx="457200" cy="932688"/>
          </a:xfrm>
          <a:prstGeom prst="rect">
            <a:avLst/>
          </a:prstGeom>
          <a:noFill/>
          <a:ln/>
        </p:spPr>
        <p:txBody>
          <a:bodyPr wrap="square" lIns="0" tIns="0" rIns="0" bIns="0" rtlCol="0" anchor="ctr"/>
          <a:lstStyle/>
          <a:p>
            <a:pPr marL="0" indent="0">
              <a:buNone/>
            </a:pPr>
            <a:r>
              <a:rPr lang="en-US" sz="2400" b="1" dirty="0">
                <a:solidFill>
                  <a:schemeClr val="accent3"/>
                </a:solidFill>
              </a:rPr>
              <a:t>4</a:t>
            </a:r>
            <a:endParaRPr lang="en-US" sz="2400" dirty="0"/>
          </a:p>
        </p:txBody>
      </p:sp>
      <p:sp>
        <p:nvSpPr>
          <p:cNvPr id="19" name="Text 16"/>
          <p:cNvSpPr txBox="1"/>
          <p:nvPr/>
        </p:nvSpPr>
        <p:spPr>
          <a:xfrm>
            <a:off x="1463040" y="5120640"/>
            <a:ext cx="2743200" cy="932688"/>
          </a:xfrm>
          <a:prstGeom prst="rect">
            <a:avLst/>
          </a:prstGeom>
          <a:noFill/>
          <a:ln/>
        </p:spPr>
        <p:txBody>
          <a:bodyPr wrap="square" lIns="0" tIns="0" rIns="0" bIns="0" rtlCol="0" anchor="ctr"/>
          <a:lstStyle/>
          <a:p>
            <a:pPr marL="0" indent="0">
              <a:buNone/>
            </a:pPr>
            <a:r>
              <a:rPr lang="en-US" sz="1600" b="1" dirty="0">
                <a:solidFill>
                  <a:schemeClr val="bg1"/>
                </a:solidFill>
              </a:rPr>
              <a:t>Business Strategy</a:t>
            </a:r>
            <a:endParaRPr lang="en-US" sz="1600" dirty="0"/>
          </a:p>
        </p:txBody>
      </p:sp>
      <p:sp>
        <p:nvSpPr>
          <p:cNvPr id="20" name="Text 17"/>
          <p:cNvSpPr txBox="1"/>
          <p:nvPr/>
        </p:nvSpPr>
        <p:spPr>
          <a:xfrm>
            <a:off x="4297680" y="5120640"/>
            <a:ext cx="6949440" cy="932688"/>
          </a:xfrm>
          <a:prstGeom prst="rect">
            <a:avLst/>
          </a:prstGeom>
          <a:noFill/>
          <a:ln/>
        </p:spPr>
        <p:txBody>
          <a:bodyPr wrap="square" lIns="0" tIns="0" rIns="0" bIns="0" rtlCol="0" anchor="ctr"/>
          <a:lstStyle/>
          <a:p>
            <a:pPr marL="0" indent="0">
              <a:buNone/>
            </a:pPr>
            <a:r>
              <a:rPr lang="en-US" sz="1400" dirty="0">
                <a:solidFill>
                  <a:srgbClr val="C7CFDA"/>
                </a:solidFill>
              </a:rPr>
              <a:t>Rekomendasi berbasis angka, dengan skenario dampak dan rencana A/B test; semua temuan diperlakukan sebagai asosiasi.</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2"/>
                </a:solidFill>
              </a:rPr>
              <a:t>04 — Data Preparation</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tx2"/>
                </a:solidFill>
              </a:rPr>
              <a:t>Dataset Profiling</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4224528"/>
        </p:xfrm>
        <a:graphic>
          <a:graphicData uri="http://schemas.openxmlformats.org/drawingml/2006/table">
            <a:tbl>
              <a:tblPr/>
              <a:tblGrid>
                <a:gridCol w="2651760">
                  <a:extLst>
                    <a:ext uri="{9D8B030D-6E8A-4147-A177-3AD203B41FA5}">
                      <a16:colId xmlns:a16="http://schemas.microsoft.com/office/drawing/2014/main" val="20000"/>
                    </a:ext>
                  </a:extLst>
                </a:gridCol>
                <a:gridCol w="8257032">
                  <a:extLst>
                    <a:ext uri="{9D8B030D-6E8A-4147-A177-3AD203B41FA5}">
                      <a16:colId xmlns:a16="http://schemas.microsoft.com/office/drawing/2014/main" val="20001"/>
                    </a:ext>
                  </a:extLst>
                </a:gridCol>
              </a:tblGrid>
              <a:tr h="411480">
                <a:tc>
                  <a:txBody>
                    <a:bodyPr/>
                    <a:lstStyle/>
                    <a:p>
                      <a:pPr marL="0" indent="0">
                        <a:buNone/>
                      </a:pPr>
                      <a:r>
                        <a:rPr lang="en-US" sz="1400" b="1" dirty="0">
                          <a:solidFill>
                            <a:schemeClr val="bg1"/>
                          </a:solidFill>
                        </a:rPr>
                        <a:t>Komponen</a:t>
                      </a:r>
                      <a:endParaRPr lang="en-US" sz="14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0D1B2E"/>
                    </a:solidFill>
                  </a:tcPr>
                </a:tc>
                <a:tc>
                  <a:txBody>
                    <a:bodyPr/>
                    <a:lstStyle/>
                    <a:p>
                      <a:pPr marL="0" indent="0">
                        <a:buNone/>
                      </a:pPr>
                      <a:r>
                        <a:rPr lang="en-US" sz="1400" b="1" dirty="0">
                          <a:solidFill>
                            <a:schemeClr val="bg1"/>
                          </a:solidFill>
                        </a:rPr>
                        <a:t>Hasil</a:t>
                      </a:r>
                      <a:endParaRPr lang="en-US" sz="14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0D1B2E"/>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chemeClr val="tx1"/>
                          </a:solidFill>
                        </a:rPr>
                        <a:t>Sumber</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REES46 Marketing Platform via Kaggle (mkechinov), eCommerce Events History in Electronics Store</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chemeClr val="tx1"/>
                          </a:solidFill>
                        </a:rPr>
                        <a:t>Rows / Columns</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885.129 event / 8 kolom dipakai (event_time, event_type, product_id, category_code, brand, price, user_id, user_session)</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chemeClr val="tx1"/>
                          </a:solidFill>
                        </a:rPr>
                        <a:t>Periode</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24 Sep 2020 sampai 28 Feb 2021 (waktu UTC)</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b="1" dirty="0">
                          <a:solidFill>
                            <a:schemeClr val="tx1"/>
                          </a:solidFill>
                        </a:rPr>
                        <a:t>Event</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view 793.748 (89,7%), cart 54.035 (6,1%), purchase 37.346 (4,2%)</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b="1" dirty="0">
                          <a:solidFill>
                            <a:schemeClr val="tx1"/>
                          </a:solidFill>
                        </a:rPr>
                        <a:t>Sesi / Pengguna</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490.398 sesi (488.360 dengan view) / 407.283 pengguna</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300" b="1" dirty="0">
                          <a:solidFill>
                            <a:schemeClr val="tx1"/>
                          </a:solidFill>
                        </a:rPr>
                        <a:t>Missing Values</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category_code 236.219 (26,7%), brand 212.364 (24,0%), user_session 165</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buNone/>
                      </a:pPr>
                      <a:r>
                        <a:rPr lang="en-US" sz="1300" b="1" dirty="0">
                          <a:solidFill>
                            <a:schemeClr val="tx1"/>
                          </a:solidFill>
                        </a:rPr>
                        <a:t>Duplicates</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655 baris</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buNone/>
                      </a:pPr>
                      <a:r>
                        <a:rPr lang="en-US" sz="1300" b="1" dirty="0">
                          <a:solidFill>
                            <a:schemeClr val="tx1"/>
                          </a:solidFill>
                        </a:rPr>
                        <a:t>Harga nol atau negatif</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0 baris; median harga 65,71, maksimum 64.771</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2"/>
                </a:solidFill>
              </a:rPr>
              <a:t>04 — Data Preparation</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tx2"/>
                </a:solidFill>
              </a:rPr>
              <a:t>Data Cleaning</a:t>
            </a:r>
            <a:endParaRPr lang="en-US" sz="3000" dirty="0"/>
          </a:p>
        </p:txBody>
      </p:sp>
      <p:sp>
        <p:nvSpPr>
          <p:cNvPr id="5" name="clean-card"/>
          <p:cNvSpPr/>
          <p:nvPr/>
        </p:nvSpPr>
        <p:spPr>
          <a:xfrm>
            <a:off x="640080" y="1783080"/>
            <a:ext cx="5349240" cy="2514600"/>
          </a:xfrm>
          <a:prstGeom prst="roundRect">
            <a:avLst>
              <a:gd name="adj" fmla="val 2909"/>
            </a:avLst>
          </a:prstGeom>
          <a:solidFill>
            <a:schemeClr val="bg1"/>
          </a:solidFill>
          <a:ln w="9525">
            <a:solidFill>
              <a:srgbClr val="E0E1DF"/>
            </a:solidFill>
            <a:prstDash val="solid"/>
          </a:ln>
        </p:spPr>
      </p:sp>
      <p:sp>
        <p:nvSpPr>
          <p:cNvPr id="6" name="Text 3"/>
          <p:cNvSpPr txBox="1"/>
          <p:nvPr/>
        </p:nvSpPr>
        <p:spPr>
          <a:xfrm>
            <a:off x="914400" y="1965960"/>
            <a:ext cx="4846320" cy="320040"/>
          </a:xfrm>
          <a:prstGeom prst="rect">
            <a:avLst/>
          </a:prstGeom>
          <a:noFill/>
          <a:ln/>
        </p:spPr>
        <p:txBody>
          <a:bodyPr wrap="square" lIns="0" tIns="0" rIns="0" bIns="0" rtlCol="0" anchor="t"/>
          <a:lstStyle/>
          <a:p>
            <a:pPr marL="0" indent="0">
              <a:buNone/>
            </a:pPr>
            <a:r>
              <a:rPr lang="en-US" sz="1600" b="1" dirty="0">
                <a:solidFill>
                  <a:schemeClr val="accent1"/>
                </a:solidFill>
              </a:rPr>
              <a:t>Nilai Kosong Dihapus</a:t>
            </a:r>
            <a:endParaRPr lang="en-US" sz="1600" dirty="0"/>
          </a:p>
        </p:txBody>
      </p:sp>
      <p:sp>
        <p:nvSpPr>
          <p:cNvPr id="7" name="Text 4"/>
          <p:cNvSpPr txBox="1"/>
          <p:nvPr/>
        </p:nvSpPr>
        <p:spPr>
          <a:xfrm>
            <a:off x="914400" y="2377440"/>
            <a:ext cx="4846320" cy="1828800"/>
          </a:xfrm>
          <a:prstGeom prst="rect">
            <a:avLst/>
          </a:prstGeom>
          <a:noFill/>
          <a:ln/>
        </p:spPr>
        <p:txBody>
          <a:bodyPr wrap="square" lIns="0" tIns="0" rIns="0" bIns="0" rtlCol="0" anchor="t"/>
          <a:lstStyle/>
          <a:p>
            <a:pPr marL="0" indent="0">
              <a:buNone/>
            </a:pPr>
            <a:r>
              <a:rPr lang="en-US" sz="1400" dirty="0">
                <a:solidFill>
                  <a:schemeClr val="tx1"/>
                </a:solidFill>
              </a:rPr>
              <a:t>Baris dengan category_code atau brand kosong dihapus (368.457 baris), bukan diisi "unknown". Nilai kosong konstan per produk, jadi semua event produk itu ikut terbuang. Duplikat 655 baris dan 162 baris tanpa waktu atau sesi valid juga dibuang.</a:t>
            </a:r>
            <a:endParaRPr lang="en-US" sz="1400" dirty="0"/>
          </a:p>
        </p:txBody>
      </p:sp>
      <p:sp>
        <p:nvSpPr>
          <p:cNvPr id="8" name="clean-card"/>
          <p:cNvSpPr/>
          <p:nvPr/>
        </p:nvSpPr>
        <p:spPr>
          <a:xfrm>
            <a:off x="6199632" y="1783080"/>
            <a:ext cx="5349240" cy="2514600"/>
          </a:xfrm>
          <a:prstGeom prst="roundRect">
            <a:avLst>
              <a:gd name="adj" fmla="val 2909"/>
            </a:avLst>
          </a:prstGeom>
          <a:solidFill>
            <a:schemeClr val="bg1"/>
          </a:solidFill>
          <a:ln w="9525">
            <a:solidFill>
              <a:srgbClr val="E0E1DF"/>
            </a:solidFill>
            <a:prstDash val="solid"/>
          </a:ln>
        </p:spPr>
      </p:sp>
      <p:sp>
        <p:nvSpPr>
          <p:cNvPr id="9" name="Text 6"/>
          <p:cNvSpPr txBox="1"/>
          <p:nvPr/>
        </p:nvSpPr>
        <p:spPr>
          <a:xfrm>
            <a:off x="6473952" y="1965960"/>
            <a:ext cx="4846320" cy="320040"/>
          </a:xfrm>
          <a:prstGeom prst="rect">
            <a:avLst/>
          </a:prstGeom>
          <a:noFill/>
          <a:ln/>
        </p:spPr>
        <p:txBody>
          <a:bodyPr wrap="square" lIns="0" tIns="0" rIns="0" bIns="0" rtlCol="0" anchor="t"/>
          <a:lstStyle/>
          <a:p>
            <a:pPr marL="0" indent="0">
              <a:buNone/>
            </a:pPr>
            <a:r>
              <a:rPr lang="en-US" sz="1600" b="1" dirty="0">
                <a:solidFill>
                  <a:schemeClr val="accent2"/>
                </a:solidFill>
              </a:rPr>
              <a:t>Penjaga Integritas Funnel dan Outlier</a:t>
            </a:r>
            <a:endParaRPr lang="en-US" sz="1600" dirty="0"/>
          </a:p>
        </p:txBody>
      </p:sp>
      <p:sp>
        <p:nvSpPr>
          <p:cNvPr id="10" name="Text 7"/>
          <p:cNvSpPr txBox="1"/>
          <p:nvPr/>
        </p:nvSpPr>
        <p:spPr>
          <a:xfrm>
            <a:off x="6473952" y="2377440"/>
            <a:ext cx="4846320" cy="1828800"/>
          </a:xfrm>
          <a:prstGeom prst="rect">
            <a:avLst/>
          </a:prstGeom>
          <a:noFill/>
          <a:ln/>
        </p:spPr>
        <p:txBody>
          <a:bodyPr wrap="square" lIns="0" tIns="0" rIns="0" bIns="0" rtlCol="0" anchor="t"/>
          <a:lstStyle/>
          <a:p>
            <a:pPr marL="0" indent="0">
              <a:buNone/>
            </a:pPr>
            <a:r>
              <a:rPr lang="en-US" sz="1400" dirty="0">
                <a:solidFill>
                  <a:schemeClr val="tx1"/>
                </a:solidFill>
              </a:rPr>
              <a:t>Sesi yang event cart atau purchase-nya ikut terhapus (2.372 sesi, 17.656 event) dikeluarkan seluruhnya agar tidak terbaca sebagai view-only. Outlier harga (median 65,71; 7,5% di atas batas IQR 436,5) dipertahankan karena komponen premium sah.</a:t>
            </a:r>
            <a:endParaRPr lang="en-US" sz="1400" dirty="0"/>
          </a:p>
        </p:txBody>
      </p:sp>
      <p:sp>
        <p:nvSpPr>
          <p:cNvPr id="11" name="Text 8"/>
          <p:cNvSpPr txBox="1"/>
          <p:nvPr/>
        </p:nvSpPr>
        <p:spPr>
          <a:xfrm>
            <a:off x="640080" y="4526280"/>
            <a:ext cx="3657600" cy="274320"/>
          </a:xfrm>
          <a:prstGeom prst="rect">
            <a:avLst/>
          </a:prstGeom>
          <a:noFill/>
          <a:ln/>
        </p:spPr>
        <p:txBody>
          <a:bodyPr wrap="square" lIns="0" tIns="0" rIns="0" bIns="0" rtlCol="0" anchor="t"/>
          <a:lstStyle/>
          <a:p>
            <a:pPr marL="0" indent="0">
              <a:buNone/>
            </a:pPr>
            <a:r>
              <a:rPr lang="en-US" sz="1400" b="1" dirty="0">
                <a:solidFill>
                  <a:schemeClr val="accent2"/>
                </a:solidFill>
              </a:rPr>
              <a:t>Alur preprocessing</a:t>
            </a:r>
            <a:endParaRPr lang="en-US" sz="1400" dirty="0"/>
          </a:p>
        </p:txBody>
      </p:sp>
      <p:sp>
        <p:nvSpPr>
          <p:cNvPr id="12" name="flow-chip"/>
          <p:cNvSpPr/>
          <p:nvPr/>
        </p:nvSpPr>
        <p:spPr>
          <a:xfrm>
            <a:off x="640080" y="4937760"/>
            <a:ext cx="1965960" cy="1097280"/>
          </a:xfrm>
          <a:prstGeom prst="roundRect">
            <a:avLst>
              <a:gd name="adj" fmla="val 6667"/>
            </a:avLst>
          </a:prstGeom>
          <a:solidFill>
            <a:schemeClr val="tx2"/>
          </a:solidFill>
          <a:ln w="9525">
            <a:solidFill>
              <a:schemeClr val="accent6"/>
            </a:solidFill>
            <a:prstDash val="solid"/>
          </a:ln>
        </p:spPr>
      </p:sp>
      <p:sp>
        <p:nvSpPr>
          <p:cNvPr id="13" name="Text 10"/>
          <p:cNvSpPr txBox="1"/>
          <p:nvPr/>
        </p:nvSpPr>
        <p:spPr>
          <a:xfrm>
            <a:off x="777240" y="4937760"/>
            <a:ext cx="1691640" cy="1097280"/>
          </a:xfrm>
          <a:prstGeom prst="rect">
            <a:avLst/>
          </a:prstGeom>
          <a:noFill/>
          <a:ln/>
        </p:spPr>
        <p:txBody>
          <a:bodyPr wrap="square" lIns="0" tIns="0" rIns="0" bIns="0" rtlCol="0" anchor="ctr"/>
          <a:lstStyle/>
          <a:p>
            <a:pPr marL="0" indent="0" algn="ctr">
              <a:buNone/>
            </a:pPr>
            <a:r>
              <a:rPr lang="en-US" sz="1400" b="1" dirty="0">
                <a:solidFill>
                  <a:schemeClr val="bg1"/>
                </a:solidFill>
              </a:rPr>
              <a:t>Muat events.csv</a:t>
            </a:r>
            <a:endParaRPr lang="en-US" sz="1400" dirty="0"/>
          </a:p>
        </p:txBody>
      </p:sp>
      <p:sp>
        <p:nvSpPr>
          <p:cNvPr id="14" name="Text 11"/>
          <p:cNvSpPr txBox="1"/>
          <p:nvPr/>
        </p:nvSpPr>
        <p:spPr>
          <a:xfrm>
            <a:off x="2606040" y="4937760"/>
            <a:ext cx="269748" cy="1097280"/>
          </a:xfrm>
          <a:prstGeom prst="rect">
            <a:avLst/>
          </a:prstGeom>
          <a:noFill/>
          <a:ln/>
        </p:spPr>
        <p:txBody>
          <a:bodyPr wrap="square" lIns="0" tIns="0" rIns="0" bIns="0" rtlCol="0" anchor="ctr"/>
          <a:lstStyle/>
          <a:p>
            <a:pPr marL="0" indent="0" algn="ctr">
              <a:buNone/>
            </a:pPr>
            <a:r>
              <a:rPr lang="en-US" sz="1800" b="1" dirty="0">
                <a:solidFill>
                  <a:schemeClr val="accent2"/>
                </a:solidFill>
              </a:rPr>
              <a:t>&gt;</a:t>
            </a:r>
            <a:endParaRPr lang="en-US" sz="1800" dirty="0"/>
          </a:p>
        </p:txBody>
      </p:sp>
      <p:sp>
        <p:nvSpPr>
          <p:cNvPr id="15" name="flow-chip"/>
          <p:cNvSpPr/>
          <p:nvPr/>
        </p:nvSpPr>
        <p:spPr>
          <a:xfrm>
            <a:off x="2875788" y="4937760"/>
            <a:ext cx="1965960" cy="1097280"/>
          </a:xfrm>
          <a:prstGeom prst="roundRect">
            <a:avLst>
              <a:gd name="adj" fmla="val 6667"/>
            </a:avLst>
          </a:prstGeom>
          <a:solidFill>
            <a:schemeClr val="tx2"/>
          </a:solidFill>
          <a:ln w="9525">
            <a:solidFill>
              <a:schemeClr val="accent6"/>
            </a:solidFill>
            <a:prstDash val="solid"/>
          </a:ln>
        </p:spPr>
      </p:sp>
      <p:sp>
        <p:nvSpPr>
          <p:cNvPr id="16" name="Text 13"/>
          <p:cNvSpPr txBox="1"/>
          <p:nvPr/>
        </p:nvSpPr>
        <p:spPr>
          <a:xfrm>
            <a:off x="3012948" y="4937760"/>
            <a:ext cx="1691640" cy="1097280"/>
          </a:xfrm>
          <a:prstGeom prst="rect">
            <a:avLst/>
          </a:prstGeom>
          <a:noFill/>
          <a:ln/>
        </p:spPr>
        <p:txBody>
          <a:bodyPr wrap="square" lIns="0" tIns="0" rIns="0" bIns="0" rtlCol="0" anchor="ctr"/>
          <a:lstStyle/>
          <a:p>
            <a:pPr marL="0" indent="0" algn="ctr">
              <a:buNone/>
            </a:pPr>
            <a:r>
              <a:rPr lang="en-US" sz="1400" b="1" dirty="0">
                <a:solidFill>
                  <a:schemeClr val="bg1"/>
                </a:solidFill>
              </a:rPr>
              <a:t>Hapus duplikat dan harga tidak valid</a:t>
            </a:r>
            <a:endParaRPr lang="en-US" sz="1400" dirty="0"/>
          </a:p>
        </p:txBody>
      </p:sp>
      <p:sp>
        <p:nvSpPr>
          <p:cNvPr id="17" name="Text 14"/>
          <p:cNvSpPr txBox="1"/>
          <p:nvPr/>
        </p:nvSpPr>
        <p:spPr>
          <a:xfrm>
            <a:off x="4841748" y="4937760"/>
            <a:ext cx="269748" cy="1097280"/>
          </a:xfrm>
          <a:prstGeom prst="rect">
            <a:avLst/>
          </a:prstGeom>
          <a:noFill/>
          <a:ln/>
        </p:spPr>
        <p:txBody>
          <a:bodyPr wrap="square" lIns="0" tIns="0" rIns="0" bIns="0" rtlCol="0" anchor="ctr"/>
          <a:lstStyle/>
          <a:p>
            <a:pPr marL="0" indent="0" algn="ctr">
              <a:buNone/>
            </a:pPr>
            <a:r>
              <a:rPr lang="en-US" sz="1800" b="1" dirty="0">
                <a:solidFill>
                  <a:schemeClr val="accent2"/>
                </a:solidFill>
              </a:rPr>
              <a:t>&gt;</a:t>
            </a:r>
            <a:endParaRPr lang="en-US" sz="1800" dirty="0"/>
          </a:p>
        </p:txBody>
      </p:sp>
      <p:sp>
        <p:nvSpPr>
          <p:cNvPr id="18" name="flow-chip"/>
          <p:cNvSpPr/>
          <p:nvPr/>
        </p:nvSpPr>
        <p:spPr>
          <a:xfrm>
            <a:off x="5111496" y="4937760"/>
            <a:ext cx="1965960" cy="1097280"/>
          </a:xfrm>
          <a:prstGeom prst="roundRect">
            <a:avLst>
              <a:gd name="adj" fmla="val 6667"/>
            </a:avLst>
          </a:prstGeom>
          <a:solidFill>
            <a:schemeClr val="tx2"/>
          </a:solidFill>
          <a:ln w="9525">
            <a:solidFill>
              <a:schemeClr val="accent6"/>
            </a:solidFill>
            <a:prstDash val="solid"/>
          </a:ln>
        </p:spPr>
      </p:sp>
      <p:sp>
        <p:nvSpPr>
          <p:cNvPr id="19" name="Text 16"/>
          <p:cNvSpPr txBox="1"/>
          <p:nvPr/>
        </p:nvSpPr>
        <p:spPr>
          <a:xfrm>
            <a:off x="5248656" y="4937760"/>
            <a:ext cx="1691640" cy="1097280"/>
          </a:xfrm>
          <a:prstGeom prst="rect">
            <a:avLst/>
          </a:prstGeom>
          <a:noFill/>
          <a:ln/>
        </p:spPr>
        <p:txBody>
          <a:bodyPr wrap="square" lIns="0" tIns="0" rIns="0" bIns="0" rtlCol="0" anchor="ctr"/>
          <a:lstStyle/>
          <a:p>
            <a:pPr marL="0" indent="0" algn="ctr">
              <a:buNone/>
            </a:pPr>
            <a:r>
              <a:rPr lang="en-US" sz="1400" b="1" dirty="0">
                <a:solidFill>
                  <a:schemeClr val="bg1"/>
                </a:solidFill>
              </a:rPr>
              <a:t>Hapus kategori dan brand kosong</a:t>
            </a:r>
            <a:endParaRPr lang="en-US" sz="1400" dirty="0"/>
          </a:p>
        </p:txBody>
      </p:sp>
      <p:sp>
        <p:nvSpPr>
          <p:cNvPr id="20" name="Text 17"/>
          <p:cNvSpPr txBox="1"/>
          <p:nvPr/>
        </p:nvSpPr>
        <p:spPr>
          <a:xfrm>
            <a:off x="7077456" y="4937760"/>
            <a:ext cx="269748" cy="1097280"/>
          </a:xfrm>
          <a:prstGeom prst="rect">
            <a:avLst/>
          </a:prstGeom>
          <a:noFill/>
          <a:ln/>
        </p:spPr>
        <p:txBody>
          <a:bodyPr wrap="square" lIns="0" tIns="0" rIns="0" bIns="0" rtlCol="0" anchor="ctr"/>
          <a:lstStyle/>
          <a:p>
            <a:pPr marL="0" indent="0" algn="ctr">
              <a:buNone/>
            </a:pPr>
            <a:r>
              <a:rPr lang="en-US" sz="1800" b="1" dirty="0">
                <a:solidFill>
                  <a:schemeClr val="accent2"/>
                </a:solidFill>
              </a:rPr>
              <a:t>&gt;</a:t>
            </a:r>
            <a:endParaRPr lang="en-US" sz="1800" dirty="0"/>
          </a:p>
        </p:txBody>
      </p:sp>
      <p:sp>
        <p:nvSpPr>
          <p:cNvPr id="21" name="flow-chip"/>
          <p:cNvSpPr/>
          <p:nvPr/>
        </p:nvSpPr>
        <p:spPr>
          <a:xfrm>
            <a:off x="7347204" y="4937760"/>
            <a:ext cx="1965960" cy="1097280"/>
          </a:xfrm>
          <a:prstGeom prst="roundRect">
            <a:avLst>
              <a:gd name="adj" fmla="val 6667"/>
            </a:avLst>
          </a:prstGeom>
          <a:solidFill>
            <a:schemeClr val="tx2"/>
          </a:solidFill>
          <a:ln w="9525">
            <a:solidFill>
              <a:schemeClr val="accent6"/>
            </a:solidFill>
            <a:prstDash val="solid"/>
          </a:ln>
        </p:spPr>
      </p:sp>
      <p:sp>
        <p:nvSpPr>
          <p:cNvPr id="22" name="Text 19"/>
          <p:cNvSpPr txBox="1"/>
          <p:nvPr/>
        </p:nvSpPr>
        <p:spPr>
          <a:xfrm>
            <a:off x="7484364" y="4937760"/>
            <a:ext cx="1691640" cy="1097280"/>
          </a:xfrm>
          <a:prstGeom prst="rect">
            <a:avLst/>
          </a:prstGeom>
          <a:noFill/>
          <a:ln/>
        </p:spPr>
        <p:txBody>
          <a:bodyPr wrap="square" lIns="0" tIns="0" rIns="0" bIns="0" rtlCol="0" anchor="ctr"/>
          <a:lstStyle/>
          <a:p>
            <a:pPr marL="0" indent="0" algn="ctr">
              <a:buNone/>
            </a:pPr>
            <a:r>
              <a:rPr lang="en-US" sz="1400" b="1" dirty="0">
                <a:solidFill>
                  <a:schemeClr val="bg1"/>
                </a:solidFill>
              </a:rPr>
              <a:t>Keluarkan sesi cart atau purchase terhapus</a:t>
            </a:r>
            <a:endParaRPr lang="en-US" sz="1400" dirty="0"/>
          </a:p>
        </p:txBody>
      </p:sp>
      <p:sp>
        <p:nvSpPr>
          <p:cNvPr id="23" name="Text 20"/>
          <p:cNvSpPr txBox="1"/>
          <p:nvPr/>
        </p:nvSpPr>
        <p:spPr>
          <a:xfrm>
            <a:off x="9313164" y="4937760"/>
            <a:ext cx="269748" cy="1097280"/>
          </a:xfrm>
          <a:prstGeom prst="rect">
            <a:avLst/>
          </a:prstGeom>
          <a:noFill/>
          <a:ln/>
        </p:spPr>
        <p:txBody>
          <a:bodyPr wrap="square" lIns="0" tIns="0" rIns="0" bIns="0" rtlCol="0" anchor="ctr"/>
          <a:lstStyle/>
          <a:p>
            <a:pPr marL="0" indent="0" algn="ctr">
              <a:buNone/>
            </a:pPr>
            <a:r>
              <a:rPr lang="en-US" sz="1800" b="1" dirty="0">
                <a:solidFill>
                  <a:schemeClr val="accent2"/>
                </a:solidFill>
              </a:rPr>
              <a:t>&gt;</a:t>
            </a:r>
            <a:endParaRPr lang="en-US" sz="1800" dirty="0"/>
          </a:p>
        </p:txBody>
      </p:sp>
      <p:sp>
        <p:nvSpPr>
          <p:cNvPr id="24" name="flow-chip"/>
          <p:cNvSpPr/>
          <p:nvPr/>
        </p:nvSpPr>
        <p:spPr>
          <a:xfrm>
            <a:off x="9582912" y="4937760"/>
            <a:ext cx="1965960" cy="1097280"/>
          </a:xfrm>
          <a:prstGeom prst="roundRect">
            <a:avLst>
              <a:gd name="adj" fmla="val 6667"/>
            </a:avLst>
          </a:prstGeom>
          <a:solidFill>
            <a:schemeClr val="tx2"/>
          </a:solidFill>
          <a:ln w="9525">
            <a:solidFill>
              <a:schemeClr val="accent6"/>
            </a:solidFill>
            <a:prstDash val="solid"/>
          </a:ln>
        </p:spPr>
      </p:sp>
      <p:sp>
        <p:nvSpPr>
          <p:cNvPr id="25" name="Text 22"/>
          <p:cNvSpPr txBox="1"/>
          <p:nvPr/>
        </p:nvSpPr>
        <p:spPr>
          <a:xfrm>
            <a:off x="9720072" y="4937760"/>
            <a:ext cx="1691640" cy="1097280"/>
          </a:xfrm>
          <a:prstGeom prst="rect">
            <a:avLst/>
          </a:prstGeom>
          <a:noFill/>
          <a:ln/>
        </p:spPr>
        <p:txBody>
          <a:bodyPr wrap="square" lIns="0" tIns="0" rIns="0" bIns="0" rtlCol="0" anchor="ctr"/>
          <a:lstStyle/>
          <a:p>
            <a:pPr marL="0" indent="0" algn="ctr">
              <a:buNone/>
            </a:pPr>
            <a:r>
              <a:rPr lang="en-US" sz="1400" b="1" dirty="0">
                <a:solidFill>
                  <a:schemeClr val="bg1"/>
                </a:solidFill>
              </a:rPr>
              <a:t>Bentuk tabel fakta dan sesi</a:t>
            </a:r>
            <a:endParaRPr lang="en-US" sz="1400" dirty="0"/>
          </a:p>
        </p:txBody>
      </p:sp>
      <p:sp>
        <p:nvSpPr>
          <p:cNvPr id="4"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2"/>
                </a:solidFill>
              </a:rPr>
              <a:t>04 — Data Preparation</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tx2"/>
                </a:solidFill>
              </a:rPr>
              <a:t>Uji Kualitas dan Sensitivitas Sesi</a:t>
            </a:r>
            <a:endParaRPr lang="en-US" sz="3000" dirty="0"/>
          </a:p>
        </p:txBody>
      </p:sp>
      <p:sp>
        <p:nvSpPr>
          <p:cNvPr id="5" name="Text 2"/>
          <p:cNvSpPr txBox="1"/>
          <p:nvPr/>
        </p:nvSpPr>
        <p:spPr>
          <a:xfrm>
            <a:off x="640080" y="1828800"/>
            <a:ext cx="548640" cy="274320"/>
          </a:xfrm>
          <a:prstGeom prst="rect">
            <a:avLst/>
          </a:prstGeom>
          <a:noFill/>
          <a:ln/>
        </p:spPr>
        <p:txBody>
          <a:bodyPr wrap="square" lIns="0" tIns="0" rIns="0" bIns="0" rtlCol="0" anchor="t"/>
          <a:lstStyle/>
          <a:p>
            <a:pPr marL="0" indent="0">
              <a:buNone/>
            </a:pPr>
            <a:r>
              <a:rPr lang="en-US" sz="1400" b="1" dirty="0">
                <a:solidFill>
                  <a:schemeClr val="accent2"/>
                </a:solidFill>
              </a:rPr>
              <a:t>01</a:t>
            </a:r>
            <a:endParaRPr lang="en-US" sz="1400" dirty="0"/>
          </a:p>
        </p:txBody>
      </p:sp>
      <p:sp>
        <p:nvSpPr>
          <p:cNvPr id="6" name="Text 3"/>
          <p:cNvSpPr txBox="1"/>
          <p:nvPr/>
        </p:nvSpPr>
        <p:spPr>
          <a:xfrm>
            <a:off x="640080" y="2176272"/>
            <a:ext cx="4297680" cy="1051560"/>
          </a:xfrm>
          <a:prstGeom prst="rect">
            <a:avLst/>
          </a:prstGeom>
          <a:noFill/>
          <a:ln/>
        </p:spPr>
        <p:txBody>
          <a:bodyPr wrap="square" lIns="0" tIns="0" rIns="0" bIns="0" rtlCol="0" anchor="t"/>
          <a:lstStyle/>
          <a:p>
            <a:pPr marL="0" indent="0">
              <a:buNone/>
            </a:pPr>
            <a:r>
              <a:rPr lang="en-US" sz="1400" dirty="0">
                <a:solidFill>
                  <a:schemeClr val="tx1"/>
                </a:solidFill>
              </a:rPr>
              <a:t>87,1% pengguna hanya punya satu user_session. Median 1 event per sesi, persentil 99 sebesar 11 event.</a:t>
            </a:r>
            <a:endParaRPr lang="en-US" sz="1400" dirty="0"/>
          </a:p>
        </p:txBody>
      </p:sp>
      <p:sp>
        <p:nvSpPr>
          <p:cNvPr id="7" name="Text 4"/>
          <p:cNvSpPr txBox="1"/>
          <p:nvPr/>
        </p:nvSpPr>
        <p:spPr>
          <a:xfrm>
            <a:off x="640080" y="3291840"/>
            <a:ext cx="548640" cy="274320"/>
          </a:xfrm>
          <a:prstGeom prst="rect">
            <a:avLst/>
          </a:prstGeom>
          <a:noFill/>
          <a:ln/>
        </p:spPr>
        <p:txBody>
          <a:bodyPr wrap="square" lIns="0" tIns="0" rIns="0" bIns="0" rtlCol="0" anchor="t"/>
          <a:lstStyle/>
          <a:p>
            <a:pPr marL="0" indent="0">
              <a:buNone/>
            </a:pPr>
            <a:r>
              <a:rPr lang="en-US" sz="1400" b="1" dirty="0">
                <a:solidFill>
                  <a:schemeClr val="accent2"/>
                </a:solidFill>
              </a:rPr>
              <a:t>02</a:t>
            </a:r>
            <a:endParaRPr lang="en-US" sz="1400" dirty="0"/>
          </a:p>
        </p:txBody>
      </p:sp>
      <p:sp>
        <p:nvSpPr>
          <p:cNvPr id="8" name="Text 5"/>
          <p:cNvSpPr txBox="1"/>
          <p:nvPr/>
        </p:nvSpPr>
        <p:spPr>
          <a:xfrm>
            <a:off x="640080" y="3639312"/>
            <a:ext cx="4297680" cy="1051560"/>
          </a:xfrm>
          <a:prstGeom prst="rect">
            <a:avLst/>
          </a:prstGeom>
          <a:noFill/>
          <a:ln/>
        </p:spPr>
        <p:txBody>
          <a:bodyPr wrap="square" lIns="0" tIns="0" rIns="0" bIns="0" rtlCol="0" anchor="t"/>
          <a:lstStyle/>
          <a:p>
            <a:pPr marL="0" indent="0">
              <a:buNone/>
            </a:pPr>
            <a:r>
              <a:rPr lang="en-US" sz="1400" dirty="0">
                <a:solidFill>
                  <a:schemeClr val="tx1"/>
                </a:solidFill>
              </a:rPr>
              <a:t>6,5% sesi berlangsung lebih dari 30 menit dan 2,1% mencakup lebih dari satu hari.</a:t>
            </a:r>
            <a:endParaRPr lang="en-US" sz="1400" dirty="0"/>
          </a:p>
        </p:txBody>
      </p:sp>
      <p:sp>
        <p:nvSpPr>
          <p:cNvPr id="9" name="Text 6"/>
          <p:cNvSpPr txBox="1"/>
          <p:nvPr/>
        </p:nvSpPr>
        <p:spPr>
          <a:xfrm>
            <a:off x="640080" y="4754880"/>
            <a:ext cx="548640" cy="274320"/>
          </a:xfrm>
          <a:prstGeom prst="rect">
            <a:avLst/>
          </a:prstGeom>
          <a:noFill/>
          <a:ln/>
        </p:spPr>
        <p:txBody>
          <a:bodyPr wrap="square" lIns="0" tIns="0" rIns="0" bIns="0" rtlCol="0" anchor="t"/>
          <a:lstStyle/>
          <a:p>
            <a:pPr marL="0" indent="0">
              <a:buNone/>
            </a:pPr>
            <a:r>
              <a:rPr lang="en-US" sz="1400" b="1" dirty="0">
                <a:solidFill>
                  <a:schemeClr val="accent2"/>
                </a:solidFill>
              </a:rPr>
              <a:t>03</a:t>
            </a:r>
            <a:endParaRPr lang="en-US" sz="1400" dirty="0"/>
          </a:p>
        </p:txBody>
      </p:sp>
      <p:sp>
        <p:nvSpPr>
          <p:cNvPr id="10" name="Text 7"/>
          <p:cNvSpPr txBox="1"/>
          <p:nvPr/>
        </p:nvSpPr>
        <p:spPr>
          <a:xfrm>
            <a:off x="640080" y="5102352"/>
            <a:ext cx="4297680" cy="1051560"/>
          </a:xfrm>
          <a:prstGeom prst="rect">
            <a:avLst/>
          </a:prstGeom>
          <a:noFill/>
          <a:ln/>
        </p:spPr>
        <p:txBody>
          <a:bodyPr wrap="square" lIns="0" tIns="0" rIns="0" bIns="0" rtlCol="0" anchor="t"/>
          <a:lstStyle/>
          <a:p>
            <a:pPr marL="0" indent="0">
              <a:buNone/>
            </a:pPr>
            <a:r>
              <a:rPr lang="en-US" sz="1400" dirty="0">
                <a:solidFill>
                  <a:schemeClr val="tx1"/>
                </a:solidFill>
              </a:rPr>
              <a:t>Keputusan: unit utama tetap user_session karena selisih kecil; sesi jeda 30 menit dilaporkan sebagai uji sensitivitas.</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394960" y="1828800"/>
          <a:ext cx="6153912" cy="3968496"/>
        </p:xfrm>
        <a:graphic>
          <a:graphicData uri="http://schemas.openxmlformats.org/drawingml/2006/table">
            <a:tbl>
              <a:tblPr/>
              <a:tblGrid>
                <a:gridCol w="26517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64792">
                  <a:extLst>
                    <a:ext uri="{9D8B030D-6E8A-4147-A177-3AD203B41FA5}">
                      <a16:colId xmlns:a16="http://schemas.microsoft.com/office/drawing/2014/main" val="20002"/>
                    </a:ext>
                  </a:extLst>
                </a:gridCol>
              </a:tblGrid>
              <a:tr h="566928">
                <a:tc>
                  <a:txBody>
                    <a:bodyPr/>
                    <a:lstStyle/>
                    <a:p>
                      <a:pPr marL="0" indent="0" algn="l">
                        <a:buNone/>
                      </a:pPr>
                      <a:r>
                        <a:rPr lang="en-US" sz="1400" b="1" dirty="0">
                          <a:solidFill>
                            <a:schemeClr val="bg1"/>
                          </a:solidFill>
                        </a:rPr>
                        <a:t>Metrik</a:t>
                      </a:r>
                      <a:endParaRPr lang="en-US" sz="14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0D1B2E"/>
                    </a:solidFill>
                  </a:tcPr>
                </a:tc>
                <a:tc>
                  <a:txBody>
                    <a:bodyPr/>
                    <a:lstStyle/>
                    <a:p>
                      <a:pPr marL="0" indent="0" algn="r">
                        <a:buNone/>
                      </a:pPr>
                      <a:r>
                        <a:rPr lang="en-US" sz="1400" b="1" dirty="0">
                          <a:solidFill>
                            <a:schemeClr val="bg1"/>
                          </a:solidFill>
                        </a:rPr>
                        <a:t>user_session</a:t>
                      </a:r>
                      <a:endParaRPr lang="en-US" sz="14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0D1B2E"/>
                    </a:solidFill>
                  </a:tcPr>
                </a:tc>
                <a:tc>
                  <a:txBody>
                    <a:bodyPr/>
                    <a:lstStyle/>
                    <a:p>
                      <a:pPr marL="0" indent="0" algn="r">
                        <a:buNone/>
                      </a:pPr>
                      <a:r>
                        <a:rPr lang="en-US" sz="1400" b="1" dirty="0">
                          <a:solidFill>
                            <a:schemeClr val="bg1"/>
                          </a:solidFill>
                        </a:rPr>
                        <a:t>Jeda 30 menit</a:t>
                      </a:r>
                      <a:endParaRPr lang="en-US" sz="14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0D1B2E"/>
                    </a:solidFill>
                  </a:tcPr>
                </a:tc>
                <a:extLst>
                  <a:ext uri="{0D108BD9-81ED-4DB2-BD59-A6C34878D82A}">
                    <a16:rowId xmlns:a16="http://schemas.microsoft.com/office/drawing/2014/main" val="10000"/>
                  </a:ext>
                </a:extLst>
              </a:tr>
              <a:tr h="566928">
                <a:tc>
                  <a:txBody>
                    <a:bodyPr/>
                    <a:lstStyle/>
                    <a:p>
                      <a:pPr marL="0" indent="0" algn="l">
                        <a:buNone/>
                      </a:pPr>
                      <a:r>
                        <a:rPr lang="en-US" sz="1300" dirty="0">
                          <a:solidFill>
                            <a:schemeClr val="tx1"/>
                          </a:solidFill>
                        </a:rPr>
                        <a:t>Sesi lihat</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rPr>
                        <a:t>269.858</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rPr>
                        <a:t>279.720</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300" dirty="0">
                          <a:solidFill>
                            <a:schemeClr val="tx1"/>
                          </a:solidFill>
                        </a:rPr>
                        <a:t>Sesi keranjang</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rPr>
                        <a:t>24.952</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rPr>
                        <a:t>25.560</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300" dirty="0">
                          <a:solidFill>
                            <a:schemeClr val="tx1"/>
                          </a:solidFill>
                        </a:rPr>
                        <a:t>Beli dari keranjang</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rPr>
                        <a:t>12.296</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rPr>
                        <a:t>12.839</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300" dirty="0">
                          <a:solidFill>
                            <a:schemeClr val="tx1"/>
                          </a:solidFill>
                        </a:rPr>
                        <a:t>Lihat ke keranjang</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rPr>
                        <a:t>9,25%</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rPr>
                        <a:t>9,14%</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lgn="l">
                        <a:buNone/>
                      </a:pPr>
                      <a:r>
                        <a:rPr lang="en-US" sz="1300" dirty="0">
                          <a:solidFill>
                            <a:schemeClr val="tx1"/>
                          </a:solidFill>
                        </a:rPr>
                        <a:t>Keranjang ke beli</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rPr>
                        <a:t>49,3%</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rPr>
                        <a:t>50,2%</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300" dirty="0">
                          <a:solidFill>
                            <a:schemeClr val="tx1"/>
                          </a:solidFill>
                        </a:rPr>
                        <a:t>Lihat ke beli</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rPr>
                        <a:t>4,56%</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tc>
                  <a:txBody>
                    <a:bodyPr/>
                    <a:lstStyle/>
                    <a:p>
                      <a:pPr marL="0" indent="0" algn="r">
                        <a:buNone/>
                      </a:pPr>
                      <a:r>
                        <a:rPr lang="en-US" sz="1300" dirty="0">
                          <a:solidFill>
                            <a:schemeClr val="tx1"/>
                          </a:solidFill>
                        </a:rPr>
                        <a:t>4,59%</a:t>
                      </a:r>
                      <a:endParaRPr lang="en-US" sz="1300" dirty="0"/>
                    </a:p>
                  </a:txBody>
                  <a:tcPr marL="137160" marR="137160" marT="36576" marB="36576" anchor="ctr">
                    <a:lnL w="6350" cap="flat" cmpd="sng" algn="ctr">
                      <a:solidFill>
                        <a:srgbClr val="E0E1DF"/>
                      </a:solidFill>
                      <a:prstDash val="solid"/>
                      <a:round/>
                      <a:headEnd type="none" w="med" len="med"/>
                      <a:tailEnd type="none" w="med" len="med"/>
                    </a:lnL>
                    <a:lnR w="6350" cap="flat" cmpd="sng" algn="ctr">
                      <a:solidFill>
                        <a:srgbClr val="E0E1DF"/>
                      </a:solidFill>
                      <a:prstDash val="solid"/>
                      <a:round/>
                      <a:headEnd type="none" w="med" len="med"/>
                      <a:tailEnd type="none" w="med" len="med"/>
                    </a:lnR>
                    <a:lnT w="6350" cap="flat" cmpd="sng" algn="ctr">
                      <a:solidFill>
                        <a:srgbClr val="E0E1DF"/>
                      </a:solidFill>
                      <a:prstDash val="solid"/>
                      <a:round/>
                      <a:headEnd type="none" w="med" len="med"/>
                      <a:tailEnd type="none" w="med" len="med"/>
                    </a:lnT>
                    <a:lnB w="6350" cap="flat" cmpd="sng" algn="ctr">
                      <a:solidFill>
                        <a:srgbClr val="E0E1D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2"/>
                </a:solidFill>
              </a:rPr>
              <a:t>05 — EDA · BQ1</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tx2"/>
                </a:solidFill>
              </a:rPr>
              <a:t>Hanya 4,6% Sesi yang Membeli dari Keranjang</a:t>
            </a:r>
            <a:endParaRPr lang="en-US" sz="3000" dirty="0"/>
          </a:p>
        </p:txBody>
      </p:sp>
      <p:sp>
        <p:nvSpPr>
          <p:cNvPr id="5" name="stat-card"/>
          <p:cNvSpPr/>
          <p:nvPr/>
        </p:nvSpPr>
        <p:spPr>
          <a:xfrm>
            <a:off x="640080" y="1783080"/>
            <a:ext cx="3840480" cy="1463040"/>
          </a:xfrm>
          <a:prstGeom prst="roundRect">
            <a:avLst>
              <a:gd name="adj" fmla="val 5000"/>
            </a:avLst>
          </a:prstGeom>
          <a:solidFill>
            <a:schemeClr val="accent5"/>
          </a:solidFill>
          <a:ln w="9525">
            <a:solidFill>
              <a:schemeClr val="accent6"/>
            </a:solidFill>
            <a:prstDash val="solid"/>
          </a:ln>
        </p:spPr>
      </p:sp>
      <p:sp>
        <p:nvSpPr>
          <p:cNvPr id="6" name="Text 3"/>
          <p:cNvSpPr txBox="1"/>
          <p:nvPr/>
        </p:nvSpPr>
        <p:spPr>
          <a:xfrm>
            <a:off x="640080" y="1947672"/>
            <a:ext cx="3840480" cy="804672"/>
          </a:xfrm>
          <a:prstGeom prst="rect">
            <a:avLst/>
          </a:prstGeom>
          <a:noFill/>
          <a:ln/>
        </p:spPr>
        <p:txBody>
          <a:bodyPr wrap="square" lIns="0" tIns="0" rIns="0" bIns="0" rtlCol="0" anchor="ctr"/>
          <a:lstStyle/>
          <a:p>
            <a:pPr marL="0" indent="0" algn="ctr">
              <a:buNone/>
            </a:pPr>
            <a:r>
              <a:rPr lang="en-US" sz="4000" b="1" dirty="0">
                <a:solidFill>
                  <a:schemeClr val="accent2"/>
                </a:solidFill>
              </a:rPr>
              <a:t>4,6%</a:t>
            </a:r>
            <a:endParaRPr lang="en-US" sz="4000" dirty="0"/>
          </a:p>
        </p:txBody>
      </p:sp>
      <p:sp>
        <p:nvSpPr>
          <p:cNvPr id="7" name="Text 4"/>
          <p:cNvSpPr txBox="1"/>
          <p:nvPr/>
        </p:nvSpPr>
        <p:spPr>
          <a:xfrm>
            <a:off x="822960" y="2690165"/>
            <a:ext cx="3474720" cy="468173"/>
          </a:xfrm>
          <a:prstGeom prst="rect">
            <a:avLst/>
          </a:prstGeom>
          <a:noFill/>
          <a:ln/>
        </p:spPr>
        <p:txBody>
          <a:bodyPr wrap="square" lIns="0" tIns="0" rIns="0" bIns="0" rtlCol="0" anchor="t"/>
          <a:lstStyle/>
          <a:p>
            <a:pPr marL="0" indent="0" algn="ctr">
              <a:buNone/>
            </a:pPr>
            <a:r>
              <a:rPr lang="en-US" sz="1300" dirty="0">
                <a:solidFill>
                  <a:schemeClr val="accent4"/>
                </a:solidFill>
              </a:rPr>
              <a:t>konversi lihat → beli (via keranjang)</a:t>
            </a:r>
            <a:endParaRPr lang="en-US" sz="1300" dirty="0"/>
          </a:p>
        </p:txBody>
      </p:sp>
      <p:sp>
        <p:nvSpPr>
          <p:cNvPr id="8" name="stat-card"/>
          <p:cNvSpPr/>
          <p:nvPr/>
        </p:nvSpPr>
        <p:spPr>
          <a:xfrm>
            <a:off x="640080" y="3383280"/>
            <a:ext cx="3840480" cy="1463040"/>
          </a:xfrm>
          <a:prstGeom prst="roundRect">
            <a:avLst>
              <a:gd name="adj" fmla="val 5000"/>
            </a:avLst>
          </a:prstGeom>
          <a:solidFill>
            <a:schemeClr val="accent5"/>
          </a:solidFill>
          <a:ln w="9525">
            <a:solidFill>
              <a:schemeClr val="accent6"/>
            </a:solidFill>
            <a:prstDash val="solid"/>
          </a:ln>
        </p:spPr>
      </p:sp>
      <p:sp>
        <p:nvSpPr>
          <p:cNvPr id="9" name="Text 6"/>
          <p:cNvSpPr txBox="1"/>
          <p:nvPr/>
        </p:nvSpPr>
        <p:spPr>
          <a:xfrm>
            <a:off x="640080" y="3547872"/>
            <a:ext cx="3840480" cy="804672"/>
          </a:xfrm>
          <a:prstGeom prst="rect">
            <a:avLst/>
          </a:prstGeom>
          <a:noFill/>
          <a:ln/>
        </p:spPr>
        <p:txBody>
          <a:bodyPr wrap="square" lIns="0" tIns="0" rIns="0" bIns="0" rtlCol="0" anchor="ctr"/>
          <a:lstStyle/>
          <a:p>
            <a:pPr marL="0" indent="0" algn="ctr">
              <a:buNone/>
            </a:pPr>
            <a:r>
              <a:rPr lang="en-US" sz="4000" b="1" dirty="0">
                <a:solidFill>
                  <a:schemeClr val="accent3"/>
                </a:solidFill>
              </a:rPr>
              <a:t>95,4%</a:t>
            </a:r>
            <a:endParaRPr lang="en-US" sz="4000" dirty="0"/>
          </a:p>
        </p:txBody>
      </p:sp>
      <p:sp>
        <p:nvSpPr>
          <p:cNvPr id="10" name="Text 7"/>
          <p:cNvSpPr txBox="1"/>
          <p:nvPr/>
        </p:nvSpPr>
        <p:spPr>
          <a:xfrm>
            <a:off x="822960" y="4290365"/>
            <a:ext cx="3474720" cy="468173"/>
          </a:xfrm>
          <a:prstGeom prst="rect">
            <a:avLst/>
          </a:prstGeom>
          <a:noFill/>
          <a:ln/>
        </p:spPr>
        <p:txBody>
          <a:bodyPr wrap="square" lIns="0" tIns="0" rIns="0" bIns="0" rtlCol="0" anchor="t"/>
          <a:lstStyle/>
          <a:p>
            <a:pPr marL="0" indent="0" algn="ctr">
              <a:buNone/>
            </a:pPr>
            <a:r>
              <a:rPr lang="en-US" sz="1300" dirty="0">
                <a:solidFill>
                  <a:schemeClr val="accent4"/>
                </a:solidFill>
              </a:rPr>
              <a:t>sesi tidak berkonversi: 90,8% tidak ke keranjang, 4,7% keranjang ditinggalkan</a:t>
            </a:r>
            <a:endParaRPr lang="en-US" sz="1300" dirty="0"/>
          </a:p>
        </p:txBody>
      </p:sp>
      <p:sp>
        <p:nvSpPr>
          <p:cNvPr id="11" name="chart-card"/>
          <p:cNvSpPr/>
          <p:nvPr/>
        </p:nvSpPr>
        <p:spPr>
          <a:xfrm>
            <a:off x="4754880" y="1783080"/>
            <a:ext cx="6793992" cy="3063240"/>
          </a:xfrm>
          <a:prstGeom prst="roundRect">
            <a:avLst>
              <a:gd name="adj" fmla="val 2388"/>
            </a:avLst>
          </a:prstGeom>
          <a:solidFill>
            <a:schemeClr val="bg1"/>
          </a:solidFill>
          <a:ln w="9525">
            <a:solidFill>
              <a:srgbClr val="E0E1DF"/>
            </a:solidFill>
            <a:prstDash val="solid"/>
          </a:ln>
        </p:spPr>
      </p:sp>
      <p:graphicFrame>
        <p:nvGraphicFramePr>
          <p:cNvPr id="12" name="Chart 0"/>
          <p:cNvGraphicFramePr/>
          <p:nvPr/>
        </p:nvGraphicFramePr>
        <p:xfrm>
          <a:off x="4846320" y="1874520"/>
          <a:ext cx="6611112"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13" name="callout-num-1"/>
          <p:cNvSpPr txBox="1"/>
          <p:nvPr/>
        </p:nvSpPr>
        <p:spPr>
          <a:xfrm>
            <a:off x="640080"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01</a:t>
            </a:r>
            <a:endParaRPr lang="en-US" sz="1400" dirty="0"/>
          </a:p>
        </p:txBody>
      </p:sp>
      <p:sp>
        <p:nvSpPr>
          <p:cNvPr id="14" name="callout-text-1"/>
          <p:cNvSpPr txBox="1"/>
          <p:nvPr/>
        </p:nvSpPr>
        <p:spPr>
          <a:xfrm>
            <a:off x="640080"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9,2% sesi menambah ke keranjang, lalu 49,3% sesi berkeranjang membeli: 9,2% × 49,3% = 4,6%.</a:t>
            </a:r>
            <a:endParaRPr lang="en-US" sz="1400" dirty="0"/>
          </a:p>
        </p:txBody>
      </p:sp>
      <p:sp>
        <p:nvSpPr>
          <p:cNvPr id="15" name="callout-num-2"/>
          <p:cNvSpPr txBox="1"/>
          <p:nvPr/>
        </p:nvSpPr>
        <p:spPr>
          <a:xfrm>
            <a:off x="4288536"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02</a:t>
            </a:r>
            <a:endParaRPr lang="en-US" sz="1400" dirty="0"/>
          </a:p>
        </p:txBody>
      </p:sp>
      <p:sp>
        <p:nvSpPr>
          <p:cNvPr id="16" name="callout-text-2"/>
          <p:cNvSpPr txBox="1"/>
          <p:nvPr/>
        </p:nvSpPr>
        <p:spPr>
          <a:xfrm>
            <a:off x="4288536"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Dua titik bocor: 90,8% sesi tidak pernah ke keranjang, dan sekitar separuh sesi berkeranjang tidak membeli.</a:t>
            </a:r>
            <a:endParaRPr lang="en-US" sz="1400" dirty="0"/>
          </a:p>
        </p:txBody>
      </p:sp>
      <p:sp>
        <p:nvSpPr>
          <p:cNvPr id="17" name="callout-num-3"/>
          <p:cNvSpPr txBox="1"/>
          <p:nvPr/>
        </p:nvSpPr>
        <p:spPr>
          <a:xfrm>
            <a:off x="7936992"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03</a:t>
            </a:r>
            <a:endParaRPr lang="en-US" sz="1400" dirty="0"/>
          </a:p>
        </p:txBody>
      </p:sp>
      <p:sp>
        <p:nvSpPr>
          <p:cNvPr id="18" name="callout-text-3"/>
          <p:cNvSpPr txBox="1"/>
          <p:nvPr/>
        </p:nvSpPr>
        <p:spPr>
          <a:xfrm>
            <a:off x="7936992"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Sesi beli tanpa event keranjang (6,8% dari sesi beli) dikeluarkan dari diagnosis: 268.874 sesi dianalisis.</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2"/>
                </a:solidFill>
              </a:rPr>
              <a:t>05 — EDA · BQ2</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tx2"/>
                </a:solidFill>
              </a:rPr>
              <a:t>Konversi Naik Seiring Kedalaman Browsing</a:t>
            </a:r>
            <a:endParaRPr lang="en-US" sz="3000" dirty="0"/>
          </a:p>
        </p:txBody>
      </p:sp>
      <p:sp>
        <p:nvSpPr>
          <p:cNvPr id="5" name="chart-card"/>
          <p:cNvSpPr/>
          <p:nvPr/>
        </p:nvSpPr>
        <p:spPr>
          <a:xfrm>
            <a:off x="640080" y="1783080"/>
            <a:ext cx="5349240" cy="3108960"/>
          </a:xfrm>
          <a:prstGeom prst="roundRect">
            <a:avLst>
              <a:gd name="adj" fmla="val 2353"/>
            </a:avLst>
          </a:prstGeom>
          <a:solidFill>
            <a:schemeClr val="bg1"/>
          </a:solidFill>
          <a:ln w="9525">
            <a:solidFill>
              <a:srgbClr val="E0E1DF"/>
            </a:solidFill>
            <a:prstDash val="solid"/>
          </a:ln>
        </p:spPr>
      </p:sp>
      <p:graphicFrame>
        <p:nvGraphicFramePr>
          <p:cNvPr id="6" name="Chart 0"/>
          <p:cNvGraphicFramePr/>
          <p:nvPr/>
        </p:nvGraphicFramePr>
        <p:xfrm>
          <a:off x="731520" y="1874520"/>
          <a:ext cx="516636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7" name="chart-card"/>
          <p:cNvSpPr/>
          <p:nvPr/>
        </p:nvSpPr>
        <p:spPr>
          <a:xfrm>
            <a:off x="6199632" y="1783080"/>
            <a:ext cx="5349240" cy="3108960"/>
          </a:xfrm>
          <a:prstGeom prst="roundRect">
            <a:avLst>
              <a:gd name="adj" fmla="val 2353"/>
            </a:avLst>
          </a:prstGeom>
          <a:solidFill>
            <a:schemeClr val="bg1"/>
          </a:solidFill>
          <a:ln w="9525">
            <a:solidFill>
              <a:srgbClr val="E0E1DF"/>
            </a:solidFill>
            <a:prstDash val="solid"/>
          </a:ln>
        </p:spPr>
      </p:sp>
      <p:graphicFrame>
        <p:nvGraphicFramePr>
          <p:cNvPr id="8" name="Chart 1"/>
          <p:cNvGraphicFramePr/>
          <p:nvPr/>
        </p:nvGraphicFramePr>
        <p:xfrm>
          <a:off x="6291072" y="1874520"/>
          <a:ext cx="516636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9" name="callout-num-1"/>
          <p:cNvSpPr txBox="1"/>
          <p:nvPr/>
        </p:nvSpPr>
        <p:spPr>
          <a:xfrm>
            <a:off x="640080"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01</a:t>
            </a:r>
            <a:endParaRPr lang="en-US" sz="1400" dirty="0"/>
          </a:p>
        </p:txBody>
      </p:sp>
      <p:sp>
        <p:nvSpPr>
          <p:cNvPr id="10" name="callout-text-1"/>
          <p:cNvSpPr txBox="1"/>
          <p:nvPr/>
        </p:nvSpPr>
        <p:spPr>
          <a:xfrm>
            <a:off x="640080"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76,8% sesi hanya punya satu event view; konversinya 3,9% (rata-rata semua sesi 4,5%).</a:t>
            </a:r>
            <a:endParaRPr lang="en-US" sz="1400" dirty="0"/>
          </a:p>
        </p:txBody>
      </p:sp>
      <p:sp>
        <p:nvSpPr>
          <p:cNvPr id="11" name="callout-num-2"/>
          <p:cNvSpPr txBox="1"/>
          <p:nvPr/>
        </p:nvSpPr>
        <p:spPr>
          <a:xfrm>
            <a:off x="4288536"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02</a:t>
            </a:r>
            <a:endParaRPr lang="en-US" sz="1400" dirty="0"/>
          </a:p>
        </p:txBody>
      </p:sp>
      <p:sp>
        <p:nvSpPr>
          <p:cNvPr id="12" name="callout-text-2"/>
          <p:cNvSpPr txBox="1"/>
          <p:nvPr/>
        </p:nvSpPr>
        <p:spPr>
          <a:xfrm>
            <a:off x="4288536"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Konversi naik ke 5,8% pada 2 view dan 10,1% pada lebih dari 10 view.</a:t>
            </a:r>
            <a:endParaRPr lang="en-US" sz="1400" dirty="0"/>
          </a:p>
        </p:txBody>
      </p:sp>
      <p:sp>
        <p:nvSpPr>
          <p:cNvPr id="13" name="callout-num-3"/>
          <p:cNvSpPr txBox="1"/>
          <p:nvPr/>
        </p:nvSpPr>
        <p:spPr>
          <a:xfrm>
            <a:off x="7936992"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03</a:t>
            </a:r>
            <a:endParaRPr lang="en-US" sz="1400" dirty="0"/>
          </a:p>
        </p:txBody>
      </p:sp>
      <p:sp>
        <p:nvSpPr>
          <p:cNvPr id="14" name="callout-text-3"/>
          <p:cNvSpPr txBox="1"/>
          <p:nvPr/>
        </p:nvSpPr>
        <p:spPr>
          <a:xfrm>
            <a:off x="7936992"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Kenaikan terutama dari lihat → keranjang (8,0% ke 17,4%); keranjang → beli baru naik pada 6 view atau lebih.</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2"/>
                </a:solidFill>
              </a:rPr>
              <a:t>05 — EDA · BQ2</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tx2"/>
                </a:solidFill>
              </a:rPr>
              <a:t>Pengunjung Baru, Satu Produk: Terbesar, Terlemah</a:t>
            </a:r>
            <a:endParaRPr lang="en-US" sz="3000" dirty="0"/>
          </a:p>
        </p:txBody>
      </p:sp>
      <p:sp>
        <p:nvSpPr>
          <p:cNvPr id="5" name="chart-card"/>
          <p:cNvSpPr/>
          <p:nvPr/>
        </p:nvSpPr>
        <p:spPr>
          <a:xfrm>
            <a:off x="640080" y="1783080"/>
            <a:ext cx="3840480" cy="3108960"/>
          </a:xfrm>
          <a:prstGeom prst="roundRect">
            <a:avLst>
              <a:gd name="adj" fmla="val 2353"/>
            </a:avLst>
          </a:prstGeom>
          <a:solidFill>
            <a:schemeClr val="bg1"/>
          </a:solidFill>
          <a:ln w="9525">
            <a:solidFill>
              <a:srgbClr val="E0E1DF"/>
            </a:solidFill>
            <a:prstDash val="solid"/>
          </a:ln>
        </p:spPr>
      </p:sp>
      <p:graphicFrame>
        <p:nvGraphicFramePr>
          <p:cNvPr id="6" name="Chart 0"/>
          <p:cNvGraphicFramePr/>
          <p:nvPr/>
        </p:nvGraphicFramePr>
        <p:xfrm>
          <a:off x="731520" y="1874520"/>
          <a:ext cx="365760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7" name="chart-card"/>
          <p:cNvSpPr/>
          <p:nvPr/>
        </p:nvSpPr>
        <p:spPr>
          <a:xfrm>
            <a:off x="4663440" y="1783080"/>
            <a:ext cx="6885432" cy="3108960"/>
          </a:xfrm>
          <a:prstGeom prst="roundRect">
            <a:avLst>
              <a:gd name="adj" fmla="val 2353"/>
            </a:avLst>
          </a:prstGeom>
          <a:solidFill>
            <a:schemeClr val="bg1"/>
          </a:solidFill>
          <a:ln w="9525">
            <a:solidFill>
              <a:srgbClr val="E0E1DF"/>
            </a:solidFill>
            <a:prstDash val="solid"/>
          </a:ln>
        </p:spPr>
      </p:sp>
      <p:graphicFrame>
        <p:nvGraphicFramePr>
          <p:cNvPr id="8" name="Chart 1"/>
          <p:cNvGraphicFramePr/>
          <p:nvPr/>
        </p:nvGraphicFramePr>
        <p:xfrm>
          <a:off x="4754880" y="1874520"/>
          <a:ext cx="6702552"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9" name="callout-num-1"/>
          <p:cNvSpPr txBox="1"/>
          <p:nvPr/>
        </p:nvSpPr>
        <p:spPr>
          <a:xfrm>
            <a:off x="640080"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01</a:t>
            </a:r>
            <a:endParaRPr lang="en-US" sz="1400" dirty="0"/>
          </a:p>
        </p:txBody>
      </p:sp>
      <p:sp>
        <p:nvSpPr>
          <p:cNvPr id="10" name="callout-text-1"/>
          <p:cNvSpPr txBox="1"/>
          <p:nvPr/>
        </p:nvSpPr>
        <p:spPr>
          <a:xfrm>
            <a:off x="640080"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Kunjungan kembali berkonversi 8,7% vs 3,7%: lebih sering ke keranjang (16,0% vs 7,8%) dan membeli dari keranjang (54,5% vs 46,8%).</a:t>
            </a:r>
            <a:endParaRPr lang="en-US" sz="1400" dirty="0"/>
          </a:p>
        </p:txBody>
      </p:sp>
      <p:sp>
        <p:nvSpPr>
          <p:cNvPr id="11" name="callout-num-2"/>
          <p:cNvSpPr txBox="1"/>
          <p:nvPr/>
        </p:nvSpPr>
        <p:spPr>
          <a:xfrm>
            <a:off x="4288536"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02</a:t>
            </a:r>
            <a:endParaRPr lang="en-US" sz="1400" dirty="0"/>
          </a:p>
        </p:txBody>
      </p:sp>
      <p:sp>
        <p:nvSpPr>
          <p:cNvPr id="12" name="callout-text-2"/>
          <p:cNvSpPr txBox="1"/>
          <p:nvPr/>
        </p:nvSpPr>
        <p:spPr>
          <a:xfrm>
            <a:off x="4288536"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Kunjungan pertama dengan 1 view: 64,1% dari semua sesi, konversi 3,1%.</a:t>
            </a:r>
            <a:endParaRPr lang="en-US" sz="1400" dirty="0"/>
          </a:p>
        </p:txBody>
      </p:sp>
      <p:sp>
        <p:nvSpPr>
          <p:cNvPr id="13" name="callout-num-3"/>
          <p:cNvSpPr txBox="1"/>
          <p:nvPr/>
        </p:nvSpPr>
        <p:spPr>
          <a:xfrm>
            <a:off x="7936992"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03</a:t>
            </a:r>
            <a:endParaRPr lang="en-US" sz="1400" dirty="0"/>
          </a:p>
        </p:txBody>
      </p:sp>
      <p:sp>
        <p:nvSpPr>
          <p:cNvPr id="14" name="callout-text-3"/>
          <p:cNvSpPr txBox="1"/>
          <p:nvPr/>
        </p:nvSpPr>
        <p:spPr>
          <a:xfrm>
            <a:off x="7936992"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Segmen terbaik: kunjungan kembali dengan 2+ view (10,0%). Asosiasi, bukan bukti sebab-akibat.</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2"/>
                </a:solidFill>
              </a:rPr>
              <a:t>05 — EDA · BQ3</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tx2"/>
                </a:solidFill>
              </a:rPr>
              <a:t>Produk Ekor Panjang Berkonversi Paling Rendah</a:t>
            </a:r>
            <a:endParaRPr lang="en-US" sz="3000" dirty="0"/>
          </a:p>
        </p:txBody>
      </p:sp>
      <p:sp>
        <p:nvSpPr>
          <p:cNvPr id="5" name="chart-card"/>
          <p:cNvSpPr/>
          <p:nvPr/>
        </p:nvSpPr>
        <p:spPr>
          <a:xfrm>
            <a:off x="640080" y="1783080"/>
            <a:ext cx="4206240" cy="3108960"/>
          </a:xfrm>
          <a:prstGeom prst="roundRect">
            <a:avLst>
              <a:gd name="adj" fmla="val 2353"/>
            </a:avLst>
          </a:prstGeom>
          <a:solidFill>
            <a:schemeClr val="bg1"/>
          </a:solidFill>
          <a:ln w="9525">
            <a:solidFill>
              <a:srgbClr val="E0E1DF"/>
            </a:solidFill>
            <a:prstDash val="solid"/>
          </a:ln>
        </p:spPr>
      </p:sp>
      <p:graphicFrame>
        <p:nvGraphicFramePr>
          <p:cNvPr id="6" name="Chart 0"/>
          <p:cNvGraphicFramePr/>
          <p:nvPr/>
        </p:nvGraphicFramePr>
        <p:xfrm>
          <a:off x="731520" y="1874520"/>
          <a:ext cx="402336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7" name="chart-card"/>
          <p:cNvSpPr/>
          <p:nvPr/>
        </p:nvSpPr>
        <p:spPr>
          <a:xfrm>
            <a:off x="5029200" y="1783080"/>
            <a:ext cx="6519672" cy="3108960"/>
          </a:xfrm>
          <a:prstGeom prst="roundRect">
            <a:avLst>
              <a:gd name="adj" fmla="val 2353"/>
            </a:avLst>
          </a:prstGeom>
          <a:solidFill>
            <a:schemeClr val="bg1"/>
          </a:solidFill>
          <a:ln w="9525">
            <a:solidFill>
              <a:srgbClr val="E0E1DF"/>
            </a:solidFill>
            <a:prstDash val="solid"/>
          </a:ln>
        </p:spPr>
      </p:sp>
      <p:graphicFrame>
        <p:nvGraphicFramePr>
          <p:cNvPr id="8" name="Chart 1"/>
          <p:cNvGraphicFramePr/>
          <p:nvPr/>
        </p:nvGraphicFramePr>
        <p:xfrm>
          <a:off x="5120640" y="1874520"/>
          <a:ext cx="6336792"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9" name="callout-num-1"/>
          <p:cNvSpPr txBox="1"/>
          <p:nvPr/>
        </p:nvSpPr>
        <p:spPr>
          <a:xfrm>
            <a:off x="640080"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01</a:t>
            </a:r>
            <a:endParaRPr lang="en-US" sz="1400" dirty="0"/>
          </a:p>
        </p:txBody>
      </p:sp>
      <p:sp>
        <p:nvSpPr>
          <p:cNvPr id="10" name="callout-text-1"/>
          <p:cNvSpPr txBox="1"/>
          <p:nvPr/>
        </p:nvSpPr>
        <p:spPr>
          <a:xfrm>
            <a:off x="640080"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Produk 25% paling jarang dilihat berkonversi 2,2% vs 7,7% untuk yang paling populer.</a:t>
            </a:r>
            <a:endParaRPr lang="en-US" sz="1400" dirty="0"/>
          </a:p>
        </p:txBody>
      </p:sp>
      <p:sp>
        <p:nvSpPr>
          <p:cNvPr id="11" name="callout-num-2"/>
          <p:cNvSpPr txBox="1"/>
          <p:nvPr/>
        </p:nvSpPr>
        <p:spPr>
          <a:xfrm>
            <a:off x="4288536"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02</a:t>
            </a:r>
            <a:endParaRPr lang="en-US" sz="1400" dirty="0"/>
          </a:p>
        </p:txBody>
      </p:sp>
      <p:sp>
        <p:nvSpPr>
          <p:cNvPr id="12" name="callout-text-2"/>
          <p:cNvSpPr txBox="1"/>
          <p:nvPr/>
        </p:nvSpPr>
        <p:spPr>
          <a:xfrm>
            <a:off x="4288536"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Produk populer 16,5% ke keranjang, tetapi hanya 46,8% keranjangnya dibeli (kelompok lain sekitar 50%).</a:t>
            </a:r>
            <a:endParaRPr lang="en-US" sz="1400" dirty="0"/>
          </a:p>
        </p:txBody>
      </p:sp>
      <p:sp>
        <p:nvSpPr>
          <p:cNvPr id="13" name="callout-num-3"/>
          <p:cNvSpPr txBox="1"/>
          <p:nvPr/>
        </p:nvSpPr>
        <p:spPr>
          <a:xfrm>
            <a:off x="7936992"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03</a:t>
            </a:r>
            <a:endParaRPr lang="en-US" sz="1400" dirty="0"/>
          </a:p>
        </p:txBody>
      </p:sp>
      <p:sp>
        <p:nvSpPr>
          <p:cNvPr id="14" name="callout-text-3"/>
          <p:cNvSpPr txBox="1"/>
          <p:nvPr/>
        </p:nvSpPr>
        <p:spPr>
          <a:xfrm>
            <a:off x="7936992"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Komputer (6,3%) dan alat tulis (5,0%) di atas rata-rata; peralatan rumah 2,2% dan elektronik 2,9%.</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2"/>
                </a:solidFill>
              </a:rPr>
              <a:t>05 — EDA · BQ3</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tx2"/>
                </a:solidFill>
              </a:rPr>
              <a:t>Harga dan Keranjang Ditinggalkan</a:t>
            </a:r>
            <a:endParaRPr lang="en-US" sz="3000" dirty="0"/>
          </a:p>
        </p:txBody>
      </p:sp>
      <p:sp>
        <p:nvSpPr>
          <p:cNvPr id="5" name="chart-card"/>
          <p:cNvSpPr/>
          <p:nvPr/>
        </p:nvSpPr>
        <p:spPr>
          <a:xfrm>
            <a:off x="640080" y="1783080"/>
            <a:ext cx="5349240" cy="3108960"/>
          </a:xfrm>
          <a:prstGeom prst="roundRect">
            <a:avLst>
              <a:gd name="adj" fmla="val 2353"/>
            </a:avLst>
          </a:prstGeom>
          <a:solidFill>
            <a:schemeClr val="bg1"/>
          </a:solidFill>
          <a:ln w="9525">
            <a:solidFill>
              <a:srgbClr val="E0E1DF"/>
            </a:solidFill>
            <a:prstDash val="solid"/>
          </a:ln>
        </p:spPr>
      </p:sp>
      <p:graphicFrame>
        <p:nvGraphicFramePr>
          <p:cNvPr id="6" name="Chart 0"/>
          <p:cNvGraphicFramePr/>
          <p:nvPr/>
        </p:nvGraphicFramePr>
        <p:xfrm>
          <a:off x="731520" y="1874520"/>
          <a:ext cx="516636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7" name="chart-card"/>
          <p:cNvSpPr/>
          <p:nvPr/>
        </p:nvSpPr>
        <p:spPr>
          <a:xfrm>
            <a:off x="6199632" y="1783080"/>
            <a:ext cx="5349240" cy="3108960"/>
          </a:xfrm>
          <a:prstGeom prst="roundRect">
            <a:avLst>
              <a:gd name="adj" fmla="val 2353"/>
            </a:avLst>
          </a:prstGeom>
          <a:solidFill>
            <a:schemeClr val="bg1"/>
          </a:solidFill>
          <a:ln w="9525">
            <a:solidFill>
              <a:srgbClr val="E0E1DF"/>
            </a:solidFill>
            <a:prstDash val="solid"/>
          </a:ln>
        </p:spPr>
      </p:sp>
      <p:graphicFrame>
        <p:nvGraphicFramePr>
          <p:cNvPr id="8" name="Chart 1"/>
          <p:cNvGraphicFramePr/>
          <p:nvPr/>
        </p:nvGraphicFramePr>
        <p:xfrm>
          <a:off x="6291072" y="1874520"/>
          <a:ext cx="516636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9" name="callout-num-1"/>
          <p:cNvSpPr txBox="1"/>
          <p:nvPr/>
        </p:nvSpPr>
        <p:spPr>
          <a:xfrm>
            <a:off x="640080"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01</a:t>
            </a:r>
            <a:endParaRPr lang="en-US" sz="1400" dirty="0"/>
          </a:p>
        </p:txBody>
      </p:sp>
      <p:sp>
        <p:nvSpPr>
          <p:cNvPr id="10" name="callout-text-1"/>
          <p:cNvSpPr txBox="1"/>
          <p:nvPr/>
        </p:nvSpPr>
        <p:spPr>
          <a:xfrm>
            <a:off x="640080"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Konversi lihat → beli naik dengan harga (Q1 4,1%, Q5 5,7%): sesi produk mahal lebih sering ke keranjang (12,8% vs 7,1%).</a:t>
            </a:r>
            <a:endParaRPr lang="en-US" sz="1400" dirty="0"/>
          </a:p>
        </p:txBody>
      </p:sp>
      <p:sp>
        <p:nvSpPr>
          <p:cNvPr id="11" name="callout-num-2"/>
          <p:cNvSpPr txBox="1"/>
          <p:nvPr/>
        </p:nvSpPr>
        <p:spPr>
          <a:xfrm>
            <a:off x="4288536"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02</a:t>
            </a:r>
            <a:endParaRPr lang="en-US" sz="1400" dirty="0"/>
          </a:p>
        </p:txBody>
      </p:sp>
      <p:sp>
        <p:nvSpPr>
          <p:cNvPr id="12" name="callout-text-2"/>
          <p:cNvSpPr txBox="1"/>
          <p:nvPr/>
        </p:nvSpPr>
        <p:spPr>
          <a:xfrm>
            <a:off x="4288536"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Di tahap keranjang → beli arahnya berbalik: 58,0% pada kuintil termurah vs 44,3% pada termahal.</a:t>
            </a:r>
            <a:endParaRPr lang="en-US" sz="1400" dirty="0"/>
          </a:p>
        </p:txBody>
      </p:sp>
      <p:sp>
        <p:nvSpPr>
          <p:cNvPr id="13" name="callout-num-3"/>
          <p:cNvSpPr txBox="1"/>
          <p:nvPr/>
        </p:nvSpPr>
        <p:spPr>
          <a:xfrm>
            <a:off x="7936992"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03</a:t>
            </a:r>
            <a:endParaRPr lang="en-US" sz="1400" dirty="0"/>
          </a:p>
        </p:txBody>
      </p:sp>
      <p:sp>
        <p:nvSpPr>
          <p:cNvPr id="14" name="callout-text-3"/>
          <p:cNvSpPr txBox="1"/>
          <p:nvPr/>
        </p:nvSpPr>
        <p:spPr>
          <a:xfrm>
            <a:off x="7936992"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Harga tampak bukan penghalang di awal funnel, tetapi berasosiasi dengan keranjang yang ditinggalkan.</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2"/>
                </a:solidFill>
              </a:rPr>
              <a:t>05 — EDA · BQ3</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tx2"/>
                </a:solidFill>
              </a:rPr>
              <a:t>Waktu Berpengaruh Kecil, Tren Naik Bertahap</a:t>
            </a:r>
            <a:endParaRPr lang="en-US" sz="3000" dirty="0"/>
          </a:p>
        </p:txBody>
      </p:sp>
      <p:sp>
        <p:nvSpPr>
          <p:cNvPr id="5" name="chart-card"/>
          <p:cNvSpPr/>
          <p:nvPr/>
        </p:nvSpPr>
        <p:spPr>
          <a:xfrm>
            <a:off x="640080" y="1783080"/>
            <a:ext cx="5349240" cy="3108960"/>
          </a:xfrm>
          <a:prstGeom prst="roundRect">
            <a:avLst>
              <a:gd name="adj" fmla="val 2353"/>
            </a:avLst>
          </a:prstGeom>
          <a:solidFill>
            <a:schemeClr val="bg1"/>
          </a:solidFill>
          <a:ln w="9525">
            <a:solidFill>
              <a:srgbClr val="E0E1DF"/>
            </a:solidFill>
            <a:prstDash val="solid"/>
          </a:ln>
        </p:spPr>
      </p:sp>
      <p:graphicFrame>
        <p:nvGraphicFramePr>
          <p:cNvPr id="6" name="Chart 0"/>
          <p:cNvGraphicFramePr/>
          <p:nvPr/>
        </p:nvGraphicFramePr>
        <p:xfrm>
          <a:off x="731520" y="1874520"/>
          <a:ext cx="516636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7" name="chart-card"/>
          <p:cNvSpPr/>
          <p:nvPr/>
        </p:nvSpPr>
        <p:spPr>
          <a:xfrm>
            <a:off x="6199632" y="1783080"/>
            <a:ext cx="5349240" cy="3108960"/>
          </a:xfrm>
          <a:prstGeom prst="roundRect">
            <a:avLst>
              <a:gd name="adj" fmla="val 2353"/>
            </a:avLst>
          </a:prstGeom>
          <a:solidFill>
            <a:schemeClr val="bg1"/>
          </a:solidFill>
          <a:ln w="9525">
            <a:solidFill>
              <a:srgbClr val="E0E1DF"/>
            </a:solidFill>
            <a:prstDash val="solid"/>
          </a:ln>
        </p:spPr>
      </p:sp>
      <p:graphicFrame>
        <p:nvGraphicFramePr>
          <p:cNvPr id="8" name="Chart 1"/>
          <p:cNvGraphicFramePr/>
          <p:nvPr/>
        </p:nvGraphicFramePr>
        <p:xfrm>
          <a:off x="6291072" y="1874520"/>
          <a:ext cx="516636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9" name="callout-num-1"/>
          <p:cNvSpPr txBox="1"/>
          <p:nvPr/>
        </p:nvSpPr>
        <p:spPr>
          <a:xfrm>
            <a:off x="640080"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01</a:t>
            </a:r>
            <a:endParaRPr lang="en-US" sz="1400" dirty="0"/>
          </a:p>
        </p:txBody>
      </p:sp>
      <p:sp>
        <p:nvSpPr>
          <p:cNvPr id="10" name="callout-text-1"/>
          <p:cNvSpPr txBox="1"/>
          <p:nvPr/>
        </p:nvSpPr>
        <p:spPr>
          <a:xfrm>
            <a:off x="640080"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Per jam 3,5% sampai 5,0% dan per hari 4,3% sampai 4,7% (UTC): pengaruh waktu kecil.</a:t>
            </a:r>
            <a:endParaRPr lang="en-US" sz="1400" dirty="0"/>
          </a:p>
        </p:txBody>
      </p:sp>
      <p:sp>
        <p:nvSpPr>
          <p:cNvPr id="11" name="callout-num-2"/>
          <p:cNvSpPr txBox="1"/>
          <p:nvPr/>
        </p:nvSpPr>
        <p:spPr>
          <a:xfrm>
            <a:off x="4288536"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02</a:t>
            </a:r>
            <a:endParaRPr lang="en-US" sz="1400" dirty="0"/>
          </a:p>
        </p:txBody>
      </p:sp>
      <p:sp>
        <p:nvSpPr>
          <p:cNvPr id="12" name="callout-text-2"/>
          <p:cNvSpPr txBox="1"/>
          <p:nvPr/>
        </p:nvSpPr>
        <p:spPr>
          <a:xfrm>
            <a:off x="4288536"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Tren mingguan naik dari sekitar 3,9% (Sep sampai Okt) ke sekitar 5,1% (Jan sampai Feb).</a:t>
            </a:r>
            <a:endParaRPr lang="en-US" sz="1400" dirty="0"/>
          </a:p>
        </p:txBody>
      </p:sp>
      <p:sp>
        <p:nvSpPr>
          <p:cNvPr id="13" name="callout-num-3"/>
          <p:cNvSpPr txBox="1"/>
          <p:nvPr/>
        </p:nvSpPr>
        <p:spPr>
          <a:xfrm>
            <a:off x="7936992" y="5120640"/>
            <a:ext cx="3337560" cy="274320"/>
          </a:xfrm>
          <a:prstGeom prst="rect">
            <a:avLst/>
          </a:prstGeom>
          <a:noFill/>
          <a:ln/>
        </p:spPr>
        <p:txBody>
          <a:bodyPr wrap="square" lIns="0" tIns="0" rIns="0" bIns="0" rtlCol="0" anchor="t"/>
          <a:lstStyle/>
          <a:p>
            <a:pPr marL="0" indent="0">
              <a:buNone/>
            </a:pPr>
            <a:r>
              <a:rPr lang="en-US" sz="1400" b="1" dirty="0">
                <a:solidFill>
                  <a:schemeClr val="accent2"/>
                </a:solidFill>
              </a:rPr>
              <a:t>03</a:t>
            </a:r>
            <a:endParaRPr lang="en-US" sz="1400" dirty="0"/>
          </a:p>
        </p:txBody>
      </p:sp>
      <p:sp>
        <p:nvSpPr>
          <p:cNvPr id="14" name="callout-text-3"/>
          <p:cNvSpPr txBox="1"/>
          <p:nvPr/>
        </p:nvSpPr>
        <p:spPr>
          <a:xfrm>
            <a:off x="7936992" y="5431536"/>
            <a:ext cx="3337560" cy="1051560"/>
          </a:xfrm>
          <a:prstGeom prst="rect">
            <a:avLst/>
          </a:prstGeom>
          <a:noFill/>
          <a:ln/>
        </p:spPr>
        <p:txBody>
          <a:bodyPr wrap="square" lIns="0" tIns="0" rIns="0" bIns="0" rtlCol="0" anchor="t"/>
          <a:lstStyle/>
          <a:p>
            <a:pPr marL="0" indent="0">
              <a:buNone/>
            </a:pPr>
            <a:r>
              <a:rPr lang="en-US" sz="1400" dirty="0">
                <a:solidFill>
                  <a:schemeClr val="tx1"/>
                </a:solidFill>
              </a:rPr>
              <a:t>Penyebab kenaikan tidak bisa dipastikan dari data; minggu pertama dan terakhir parsial.</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3"/>
                </a:solidFill>
              </a:rPr>
              <a:t>05 — BUSINESS INSIGHT</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bg1"/>
                </a:solidFill>
              </a:rPr>
              <a:t>Key Business Insights</a:t>
            </a:r>
            <a:endParaRPr lang="en-US" sz="3000" dirty="0"/>
          </a:p>
        </p:txBody>
      </p:sp>
      <p:sp>
        <p:nvSpPr>
          <p:cNvPr id="5" name="Text 2"/>
          <p:cNvSpPr txBox="1"/>
          <p:nvPr/>
        </p:nvSpPr>
        <p:spPr>
          <a:xfrm>
            <a:off x="640080" y="1417320"/>
            <a:ext cx="9144000" cy="274320"/>
          </a:xfrm>
          <a:prstGeom prst="rect">
            <a:avLst/>
          </a:prstGeom>
          <a:noFill/>
          <a:ln/>
        </p:spPr>
        <p:txBody>
          <a:bodyPr wrap="square" lIns="0" tIns="0" rIns="0" bIns="0" rtlCol="0" anchor="t"/>
          <a:lstStyle/>
          <a:p>
            <a:pPr marL="0" indent="0">
              <a:buNone/>
            </a:pPr>
            <a:r>
              <a:rPr lang="en-US" sz="1400" dirty="0">
                <a:solidFill>
                  <a:schemeClr val="accent4"/>
                </a:solidFill>
              </a:rPr>
              <a:t>Four key findings from the view-to-purchase funnel analysis</a:t>
            </a:r>
            <a:endParaRPr lang="en-US" sz="1400" dirty="0"/>
          </a:p>
        </p:txBody>
      </p:sp>
      <p:sp>
        <p:nvSpPr>
          <p:cNvPr id="6" name="insight-card"/>
          <p:cNvSpPr/>
          <p:nvPr/>
        </p:nvSpPr>
        <p:spPr>
          <a:xfrm>
            <a:off x="640080" y="1874520"/>
            <a:ext cx="5422392" cy="2011680"/>
          </a:xfrm>
          <a:prstGeom prst="roundRect">
            <a:avLst>
              <a:gd name="adj" fmla="val 3636"/>
            </a:avLst>
          </a:prstGeom>
          <a:solidFill>
            <a:schemeClr val="accent5"/>
          </a:solidFill>
          <a:ln w="9525">
            <a:solidFill>
              <a:schemeClr val="accent6"/>
            </a:solidFill>
            <a:prstDash val="solid"/>
          </a:ln>
        </p:spPr>
      </p:sp>
      <p:sp>
        <p:nvSpPr>
          <p:cNvPr id="7" name="Text 4"/>
          <p:cNvSpPr txBox="1"/>
          <p:nvPr/>
        </p:nvSpPr>
        <p:spPr>
          <a:xfrm>
            <a:off x="914400" y="2057400"/>
            <a:ext cx="4846320" cy="274320"/>
          </a:xfrm>
          <a:prstGeom prst="rect">
            <a:avLst/>
          </a:prstGeom>
          <a:noFill/>
          <a:ln/>
        </p:spPr>
        <p:txBody>
          <a:bodyPr wrap="square" lIns="0" tIns="0" rIns="0" bIns="0" rtlCol="0" anchor="t"/>
          <a:lstStyle/>
          <a:p>
            <a:pPr marL="0" indent="0">
              <a:buNone/>
            </a:pPr>
            <a:r>
              <a:rPr lang="en-US" sz="1200" b="1" dirty="0">
                <a:solidFill>
                  <a:schemeClr val="accent2"/>
                </a:solidFill>
              </a:rPr>
              <a:t>01 · UKURAN MASALAH</a:t>
            </a:r>
            <a:endParaRPr lang="en-US" sz="1200" dirty="0"/>
          </a:p>
        </p:txBody>
      </p:sp>
      <p:sp>
        <p:nvSpPr>
          <p:cNvPr id="8" name="Text 5"/>
          <p:cNvSpPr txBox="1"/>
          <p:nvPr/>
        </p:nvSpPr>
        <p:spPr>
          <a:xfrm>
            <a:off x="914400" y="2331720"/>
            <a:ext cx="4846320" cy="320040"/>
          </a:xfrm>
          <a:prstGeom prst="rect">
            <a:avLst/>
          </a:prstGeom>
          <a:noFill/>
          <a:ln/>
        </p:spPr>
        <p:txBody>
          <a:bodyPr wrap="square" lIns="0" tIns="0" rIns="0" bIns="0" rtlCol="0" anchor="t"/>
          <a:lstStyle/>
          <a:p>
            <a:pPr marL="0" indent="0">
              <a:buNone/>
            </a:pPr>
            <a:r>
              <a:rPr lang="en-US" sz="1600" b="1" dirty="0">
                <a:solidFill>
                  <a:schemeClr val="bg1"/>
                </a:solidFill>
              </a:rPr>
              <a:t>Dua Titik Bocor</a:t>
            </a:r>
            <a:endParaRPr lang="en-US" sz="1600" dirty="0"/>
          </a:p>
        </p:txBody>
      </p:sp>
      <p:sp>
        <p:nvSpPr>
          <p:cNvPr id="9" name="Text 6"/>
          <p:cNvSpPr txBox="1"/>
          <p:nvPr/>
        </p:nvSpPr>
        <p:spPr>
          <a:xfrm>
            <a:off x="914400" y="2697480"/>
            <a:ext cx="4846320" cy="502920"/>
          </a:xfrm>
          <a:prstGeom prst="rect">
            <a:avLst/>
          </a:prstGeom>
          <a:noFill/>
          <a:ln/>
        </p:spPr>
        <p:txBody>
          <a:bodyPr wrap="square" lIns="0" tIns="0" rIns="0" bIns="0" rtlCol="0" anchor="t"/>
          <a:lstStyle/>
          <a:p>
            <a:pPr marL="0" indent="0">
              <a:buNone/>
            </a:pPr>
            <a:r>
              <a:rPr lang="en-US" sz="3000" b="1" dirty="0">
                <a:solidFill>
                  <a:schemeClr val="accent2"/>
                </a:solidFill>
              </a:rPr>
              <a:t>4,6%</a:t>
            </a:r>
            <a:endParaRPr lang="en-US" sz="3000" dirty="0"/>
          </a:p>
        </p:txBody>
      </p:sp>
      <p:sp>
        <p:nvSpPr>
          <p:cNvPr id="10" name="Text 7"/>
          <p:cNvSpPr txBox="1"/>
          <p:nvPr/>
        </p:nvSpPr>
        <p:spPr>
          <a:xfrm>
            <a:off x="914400" y="3246120"/>
            <a:ext cx="4846320" cy="594360"/>
          </a:xfrm>
          <a:prstGeom prst="rect">
            <a:avLst/>
          </a:prstGeom>
          <a:noFill/>
          <a:ln/>
        </p:spPr>
        <p:txBody>
          <a:bodyPr wrap="square" lIns="0" tIns="0" rIns="0" bIns="0" rtlCol="0" anchor="t"/>
          <a:lstStyle/>
          <a:p>
            <a:pPr marL="0" indent="0">
              <a:buNone/>
            </a:pPr>
            <a:r>
              <a:rPr lang="en-US" sz="1300" dirty="0">
                <a:solidFill>
                  <a:srgbClr val="C7CFDA"/>
                </a:solidFill>
              </a:rPr>
              <a:t>konversi lihat → beli. 90,8% sesi tidak pernah ke keranjang dan sekitar separuh sesi berkeranjang tidak membeli.</a:t>
            </a:r>
            <a:endParaRPr lang="en-US" sz="1300" dirty="0"/>
          </a:p>
        </p:txBody>
      </p:sp>
      <p:sp>
        <p:nvSpPr>
          <p:cNvPr id="11" name="insight-card"/>
          <p:cNvSpPr/>
          <p:nvPr/>
        </p:nvSpPr>
        <p:spPr>
          <a:xfrm>
            <a:off x="6126480" y="1874520"/>
            <a:ext cx="5422392" cy="2011680"/>
          </a:xfrm>
          <a:prstGeom prst="roundRect">
            <a:avLst>
              <a:gd name="adj" fmla="val 3636"/>
            </a:avLst>
          </a:prstGeom>
          <a:solidFill>
            <a:schemeClr val="accent5"/>
          </a:solidFill>
          <a:ln w="9525">
            <a:solidFill>
              <a:schemeClr val="accent6"/>
            </a:solidFill>
            <a:prstDash val="solid"/>
          </a:ln>
        </p:spPr>
      </p:sp>
      <p:sp>
        <p:nvSpPr>
          <p:cNvPr id="12" name="Text 9"/>
          <p:cNvSpPr txBox="1"/>
          <p:nvPr/>
        </p:nvSpPr>
        <p:spPr>
          <a:xfrm>
            <a:off x="6400800" y="2057400"/>
            <a:ext cx="4846320" cy="274320"/>
          </a:xfrm>
          <a:prstGeom prst="rect">
            <a:avLst/>
          </a:prstGeom>
          <a:noFill/>
          <a:ln/>
        </p:spPr>
        <p:txBody>
          <a:bodyPr wrap="square" lIns="0" tIns="0" rIns="0" bIns="0" rtlCol="0" anchor="t"/>
          <a:lstStyle/>
          <a:p>
            <a:pPr marL="0" indent="0">
              <a:buNone/>
            </a:pPr>
            <a:r>
              <a:rPr lang="en-US" sz="1200" b="1" dirty="0">
                <a:solidFill>
                  <a:schemeClr val="accent3"/>
                </a:solidFill>
              </a:rPr>
              <a:t>02 · SIAPA YANG TIDAK MEMBELI</a:t>
            </a:r>
            <a:endParaRPr lang="en-US" sz="1200" dirty="0"/>
          </a:p>
        </p:txBody>
      </p:sp>
      <p:sp>
        <p:nvSpPr>
          <p:cNvPr id="13" name="Text 10"/>
          <p:cNvSpPr txBox="1"/>
          <p:nvPr/>
        </p:nvSpPr>
        <p:spPr>
          <a:xfrm>
            <a:off x="6400800" y="2331720"/>
            <a:ext cx="4846320" cy="320040"/>
          </a:xfrm>
          <a:prstGeom prst="rect">
            <a:avLst/>
          </a:prstGeom>
          <a:noFill/>
          <a:ln/>
        </p:spPr>
        <p:txBody>
          <a:bodyPr wrap="square" lIns="0" tIns="0" rIns="0" bIns="0" rtlCol="0" anchor="t"/>
          <a:lstStyle/>
          <a:p>
            <a:pPr marL="0" indent="0">
              <a:buNone/>
            </a:pPr>
            <a:r>
              <a:rPr lang="en-US" sz="1600" b="1" dirty="0">
                <a:solidFill>
                  <a:schemeClr val="bg1"/>
                </a:solidFill>
              </a:rPr>
              <a:t>Pengunjung Baru, Satu Produk</a:t>
            </a:r>
            <a:endParaRPr lang="en-US" sz="1600" dirty="0"/>
          </a:p>
        </p:txBody>
      </p:sp>
      <p:sp>
        <p:nvSpPr>
          <p:cNvPr id="14" name="Text 11"/>
          <p:cNvSpPr txBox="1"/>
          <p:nvPr/>
        </p:nvSpPr>
        <p:spPr>
          <a:xfrm>
            <a:off x="6400800" y="2697480"/>
            <a:ext cx="4846320" cy="502920"/>
          </a:xfrm>
          <a:prstGeom prst="rect">
            <a:avLst/>
          </a:prstGeom>
          <a:noFill/>
          <a:ln/>
        </p:spPr>
        <p:txBody>
          <a:bodyPr wrap="square" lIns="0" tIns="0" rIns="0" bIns="0" rtlCol="0" anchor="t"/>
          <a:lstStyle/>
          <a:p>
            <a:pPr marL="0" indent="0">
              <a:buNone/>
            </a:pPr>
            <a:r>
              <a:rPr lang="en-US" sz="3000" b="1" dirty="0">
                <a:solidFill>
                  <a:schemeClr val="accent3"/>
                </a:solidFill>
              </a:rPr>
              <a:t>3,1% vs 10,0%</a:t>
            </a:r>
            <a:endParaRPr lang="en-US" sz="3000" dirty="0"/>
          </a:p>
        </p:txBody>
      </p:sp>
      <p:sp>
        <p:nvSpPr>
          <p:cNvPr id="15" name="Text 12"/>
          <p:cNvSpPr txBox="1"/>
          <p:nvPr/>
        </p:nvSpPr>
        <p:spPr>
          <a:xfrm>
            <a:off x="6400800" y="3246120"/>
            <a:ext cx="4846320" cy="594360"/>
          </a:xfrm>
          <a:prstGeom prst="rect">
            <a:avLst/>
          </a:prstGeom>
          <a:noFill/>
          <a:ln/>
        </p:spPr>
        <p:txBody>
          <a:bodyPr wrap="square" lIns="0" tIns="0" rIns="0" bIns="0" rtlCol="0" anchor="t"/>
          <a:lstStyle/>
          <a:p>
            <a:pPr marL="0" indent="0">
              <a:buNone/>
            </a:pPr>
            <a:r>
              <a:rPr lang="en-US" sz="1300" dirty="0">
                <a:solidFill>
                  <a:srgbClr val="C7CFDA"/>
                </a:solidFill>
              </a:rPr>
              <a:t>konversi: kunjungan pertama 1 view vs kunjungan kembali 2+ view.</a:t>
            </a:r>
            <a:endParaRPr lang="en-US" sz="1300" dirty="0"/>
          </a:p>
        </p:txBody>
      </p:sp>
      <p:sp>
        <p:nvSpPr>
          <p:cNvPr id="16" name="insight-card"/>
          <p:cNvSpPr/>
          <p:nvPr/>
        </p:nvSpPr>
        <p:spPr>
          <a:xfrm>
            <a:off x="640080" y="4069080"/>
            <a:ext cx="5422392" cy="2011680"/>
          </a:xfrm>
          <a:prstGeom prst="roundRect">
            <a:avLst>
              <a:gd name="adj" fmla="val 3636"/>
            </a:avLst>
          </a:prstGeom>
          <a:solidFill>
            <a:schemeClr val="accent5"/>
          </a:solidFill>
          <a:ln w="9525">
            <a:solidFill>
              <a:schemeClr val="accent6"/>
            </a:solidFill>
            <a:prstDash val="solid"/>
          </a:ln>
        </p:spPr>
      </p:sp>
      <p:sp>
        <p:nvSpPr>
          <p:cNvPr id="17" name="Text 14"/>
          <p:cNvSpPr txBox="1"/>
          <p:nvPr/>
        </p:nvSpPr>
        <p:spPr>
          <a:xfrm>
            <a:off x="914400" y="4251960"/>
            <a:ext cx="4846320" cy="274320"/>
          </a:xfrm>
          <a:prstGeom prst="rect">
            <a:avLst/>
          </a:prstGeom>
          <a:noFill/>
          <a:ln/>
        </p:spPr>
        <p:txBody>
          <a:bodyPr wrap="square" lIns="0" tIns="0" rIns="0" bIns="0" rtlCol="0" anchor="t"/>
          <a:lstStyle/>
          <a:p>
            <a:pPr marL="0" indent="0">
              <a:buNone/>
            </a:pPr>
            <a:r>
              <a:rPr lang="en-US" sz="1200" b="1" dirty="0">
                <a:solidFill>
                  <a:schemeClr val="accent3"/>
                </a:solidFill>
              </a:rPr>
              <a:t>03 · APA YANG DILIHAT</a:t>
            </a:r>
            <a:endParaRPr lang="en-US" sz="1200" dirty="0"/>
          </a:p>
        </p:txBody>
      </p:sp>
      <p:sp>
        <p:nvSpPr>
          <p:cNvPr id="18" name="Text 15"/>
          <p:cNvSpPr txBox="1"/>
          <p:nvPr/>
        </p:nvSpPr>
        <p:spPr>
          <a:xfrm>
            <a:off x="914400" y="4526280"/>
            <a:ext cx="4846320" cy="320040"/>
          </a:xfrm>
          <a:prstGeom prst="rect">
            <a:avLst/>
          </a:prstGeom>
          <a:noFill/>
          <a:ln/>
        </p:spPr>
        <p:txBody>
          <a:bodyPr wrap="square" lIns="0" tIns="0" rIns="0" bIns="0" rtlCol="0" anchor="t"/>
          <a:lstStyle/>
          <a:p>
            <a:pPr marL="0" indent="0">
              <a:buNone/>
            </a:pPr>
            <a:r>
              <a:rPr lang="en-US" sz="1600" b="1" dirty="0">
                <a:solidFill>
                  <a:schemeClr val="bg1"/>
                </a:solidFill>
              </a:rPr>
              <a:t>Produk Ekor Panjang</a:t>
            </a:r>
            <a:endParaRPr lang="en-US" sz="1600" dirty="0"/>
          </a:p>
        </p:txBody>
      </p:sp>
      <p:sp>
        <p:nvSpPr>
          <p:cNvPr id="19" name="Text 16"/>
          <p:cNvSpPr txBox="1"/>
          <p:nvPr/>
        </p:nvSpPr>
        <p:spPr>
          <a:xfrm>
            <a:off x="914400" y="4892040"/>
            <a:ext cx="4846320" cy="502920"/>
          </a:xfrm>
          <a:prstGeom prst="rect">
            <a:avLst/>
          </a:prstGeom>
          <a:noFill/>
          <a:ln/>
        </p:spPr>
        <p:txBody>
          <a:bodyPr wrap="square" lIns="0" tIns="0" rIns="0" bIns="0" rtlCol="0" anchor="t"/>
          <a:lstStyle/>
          <a:p>
            <a:pPr marL="0" indent="0">
              <a:buNone/>
            </a:pPr>
            <a:r>
              <a:rPr lang="en-US" sz="3000" b="1" dirty="0">
                <a:solidFill>
                  <a:schemeClr val="accent3"/>
                </a:solidFill>
              </a:rPr>
              <a:t>2,2% vs 7,7%</a:t>
            </a:r>
            <a:endParaRPr lang="en-US" sz="3000" dirty="0"/>
          </a:p>
        </p:txBody>
      </p:sp>
      <p:sp>
        <p:nvSpPr>
          <p:cNvPr id="20" name="Text 17"/>
          <p:cNvSpPr txBox="1"/>
          <p:nvPr/>
        </p:nvSpPr>
        <p:spPr>
          <a:xfrm>
            <a:off x="914400" y="5440680"/>
            <a:ext cx="4846320" cy="594360"/>
          </a:xfrm>
          <a:prstGeom prst="rect">
            <a:avLst/>
          </a:prstGeom>
          <a:noFill/>
          <a:ln/>
        </p:spPr>
        <p:txBody>
          <a:bodyPr wrap="square" lIns="0" tIns="0" rIns="0" bIns="0" rtlCol="0" anchor="t"/>
          <a:lstStyle/>
          <a:p>
            <a:pPr marL="0" indent="0">
              <a:buNone/>
            </a:pPr>
            <a:r>
              <a:rPr lang="en-US" sz="1300" dirty="0">
                <a:solidFill>
                  <a:srgbClr val="C7CFDA"/>
                </a:solidFill>
              </a:rPr>
              <a:t>konversi: produk paling jarang vs paling populer dilihat.</a:t>
            </a:r>
            <a:endParaRPr lang="en-US" sz="1300" dirty="0"/>
          </a:p>
        </p:txBody>
      </p:sp>
      <p:sp>
        <p:nvSpPr>
          <p:cNvPr id="21" name="insight-card"/>
          <p:cNvSpPr/>
          <p:nvPr/>
        </p:nvSpPr>
        <p:spPr>
          <a:xfrm>
            <a:off x="6126480" y="4069080"/>
            <a:ext cx="5422392" cy="2011680"/>
          </a:xfrm>
          <a:prstGeom prst="roundRect">
            <a:avLst>
              <a:gd name="adj" fmla="val 3636"/>
            </a:avLst>
          </a:prstGeom>
          <a:solidFill>
            <a:schemeClr val="accent5"/>
          </a:solidFill>
          <a:ln w="9525">
            <a:solidFill>
              <a:schemeClr val="accent6"/>
            </a:solidFill>
            <a:prstDash val="solid"/>
          </a:ln>
        </p:spPr>
      </p:sp>
      <p:sp>
        <p:nvSpPr>
          <p:cNvPr id="22" name="Text 19"/>
          <p:cNvSpPr txBox="1"/>
          <p:nvPr/>
        </p:nvSpPr>
        <p:spPr>
          <a:xfrm>
            <a:off x="6400800" y="4251960"/>
            <a:ext cx="4846320" cy="274320"/>
          </a:xfrm>
          <a:prstGeom prst="rect">
            <a:avLst/>
          </a:prstGeom>
          <a:noFill/>
          <a:ln/>
        </p:spPr>
        <p:txBody>
          <a:bodyPr wrap="square" lIns="0" tIns="0" rIns="0" bIns="0" rtlCol="0" anchor="t"/>
          <a:lstStyle/>
          <a:p>
            <a:pPr marL="0" indent="0">
              <a:buNone/>
            </a:pPr>
            <a:r>
              <a:rPr lang="en-US" sz="1200" b="1" dirty="0">
                <a:solidFill>
                  <a:schemeClr val="accent3"/>
                </a:solidFill>
              </a:rPr>
              <a:t>04 · TAHAP KERANJANG</a:t>
            </a:r>
            <a:endParaRPr lang="en-US" sz="1200" dirty="0"/>
          </a:p>
        </p:txBody>
      </p:sp>
      <p:sp>
        <p:nvSpPr>
          <p:cNvPr id="23" name="Text 20"/>
          <p:cNvSpPr txBox="1"/>
          <p:nvPr/>
        </p:nvSpPr>
        <p:spPr>
          <a:xfrm>
            <a:off x="6400800" y="4526280"/>
            <a:ext cx="4846320" cy="320040"/>
          </a:xfrm>
          <a:prstGeom prst="rect">
            <a:avLst/>
          </a:prstGeom>
          <a:noFill/>
          <a:ln/>
        </p:spPr>
        <p:txBody>
          <a:bodyPr wrap="square" lIns="0" tIns="0" rIns="0" bIns="0" rtlCol="0" anchor="t"/>
          <a:lstStyle/>
          <a:p>
            <a:pPr marL="0" indent="0">
              <a:buNone/>
            </a:pPr>
            <a:r>
              <a:rPr lang="en-US" sz="1600" b="1" dirty="0">
                <a:solidFill>
                  <a:schemeClr val="bg1"/>
                </a:solidFill>
              </a:rPr>
              <a:t>Keranjang Mahal Lebih Sering Ditinggalkan</a:t>
            </a:r>
            <a:endParaRPr lang="en-US" sz="1600" dirty="0"/>
          </a:p>
        </p:txBody>
      </p:sp>
      <p:sp>
        <p:nvSpPr>
          <p:cNvPr id="24" name="Text 21"/>
          <p:cNvSpPr txBox="1"/>
          <p:nvPr/>
        </p:nvSpPr>
        <p:spPr>
          <a:xfrm>
            <a:off x="6400800" y="4892040"/>
            <a:ext cx="4846320" cy="502920"/>
          </a:xfrm>
          <a:prstGeom prst="rect">
            <a:avLst/>
          </a:prstGeom>
          <a:noFill/>
          <a:ln/>
        </p:spPr>
        <p:txBody>
          <a:bodyPr wrap="square" lIns="0" tIns="0" rIns="0" bIns="0" rtlCol="0" anchor="t"/>
          <a:lstStyle/>
          <a:p>
            <a:pPr marL="0" indent="0">
              <a:buNone/>
            </a:pPr>
            <a:r>
              <a:rPr lang="en-US" sz="3000" b="1" dirty="0">
                <a:solidFill>
                  <a:schemeClr val="accent3"/>
                </a:solidFill>
              </a:rPr>
              <a:t>58,0% vs 44,3%</a:t>
            </a:r>
            <a:endParaRPr lang="en-US" sz="3000" dirty="0"/>
          </a:p>
        </p:txBody>
      </p:sp>
      <p:sp>
        <p:nvSpPr>
          <p:cNvPr id="25" name="Text 22"/>
          <p:cNvSpPr txBox="1"/>
          <p:nvPr/>
        </p:nvSpPr>
        <p:spPr>
          <a:xfrm>
            <a:off x="6400800" y="5440680"/>
            <a:ext cx="4846320" cy="594360"/>
          </a:xfrm>
          <a:prstGeom prst="rect">
            <a:avLst/>
          </a:prstGeom>
          <a:noFill/>
          <a:ln/>
        </p:spPr>
        <p:txBody>
          <a:bodyPr wrap="square" lIns="0" tIns="0" rIns="0" bIns="0" rtlCol="0" anchor="t"/>
          <a:lstStyle/>
          <a:p>
            <a:pPr marL="0" indent="0">
              <a:buNone/>
            </a:pPr>
            <a:r>
              <a:rPr lang="en-US" sz="1300" dirty="0">
                <a:solidFill>
                  <a:srgbClr val="C7CFDA"/>
                </a:solidFill>
              </a:rPr>
              <a:t>keranjang → beli: kuintil harga termurah vs termahal. Alasan lain tidak tercatat di log.</a:t>
            </a:r>
            <a:endParaRPr lang="en-US" sz="1300" dirty="0"/>
          </a:p>
        </p:txBody>
      </p:sp>
      <p:sp>
        <p:nvSpPr>
          <p:cNvPr id="26" name="Text 23"/>
          <p:cNvSpPr txBox="1"/>
          <p:nvPr/>
        </p:nvSpPr>
        <p:spPr>
          <a:xfrm>
            <a:off x="640080" y="6309360"/>
            <a:ext cx="10515600" cy="274320"/>
          </a:xfrm>
          <a:prstGeom prst="rect">
            <a:avLst/>
          </a:prstGeom>
          <a:noFill/>
          <a:ln/>
        </p:spPr>
        <p:txBody>
          <a:bodyPr wrap="square" lIns="0" tIns="0" rIns="0" bIns="0" rtlCol="0" anchor="t"/>
          <a:lstStyle/>
          <a:p>
            <a:pPr marL="0" indent="0">
              <a:buNone/>
            </a:pPr>
            <a:r>
              <a:rPr lang="en-US" sz="1100" dirty="0">
                <a:solidFill>
                  <a:schemeClr val="accent4"/>
                </a:solidFill>
              </a:rPr>
              <a:t>Catatan: angka adalah hasil analisis pada produk dengan kategori dan brand tercatat. Perbedaan antarkelompok tidak membuktikan sebab-akibat.</a:t>
            </a:r>
            <a:endParaRPr lang="en-US" sz="1100" dirty="0"/>
          </a:p>
        </p:txBody>
      </p:sp>
      <p:sp>
        <p:nvSpPr>
          <p:cNvPr id="4"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2"/>
                </a:solidFill>
              </a:rPr>
              <a:t>06 — Dashboard</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tx2"/>
                </a:solidFill>
              </a:rPr>
              <a:t>Dashboard </a:t>
            </a:r>
            <a:r>
              <a:rPr lang="en-US" sz="3000">
                <a:solidFill>
                  <a:schemeClr val="tx2"/>
                </a:solidFill>
              </a:rPr>
              <a:t>Power BI</a:t>
            </a:r>
            <a:endParaRPr lang="en-US" sz="3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18</a:t>
            </a:fld>
            <a:endParaRPr lang="en-US"/>
          </a:p>
        </p:txBody>
      </p:sp>
      <p:pic>
        <p:nvPicPr>
          <p:cNvPr id="24" name="Picture 23">
            <a:extLst>
              <a:ext uri="{FF2B5EF4-FFF2-40B4-BE49-F238E27FC236}">
                <a16:creationId xmlns:a16="http://schemas.microsoft.com/office/drawing/2014/main" id="{39FAAB46-F281-46C0-AC82-F40800871453}"/>
              </a:ext>
            </a:extLst>
          </p:cNvPr>
          <p:cNvPicPr>
            <a:picLocks noChangeAspect="1"/>
          </p:cNvPicPr>
          <p:nvPr/>
        </p:nvPicPr>
        <p:blipFill>
          <a:blip r:embed="rId3"/>
          <a:stretch>
            <a:fillRect/>
          </a:stretch>
        </p:blipFill>
        <p:spPr>
          <a:xfrm>
            <a:off x="1428345" y="1283737"/>
            <a:ext cx="9335309" cy="538780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2"/>
                </a:solidFill>
              </a:rPr>
              <a:t>06 — Business Recommendation</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tx2"/>
                </a:solidFill>
              </a:rPr>
              <a:t>Tiga Rekomendasi Prioritas Tertinggi</a:t>
            </a:r>
            <a:endParaRPr lang="en-US" sz="3000" dirty="0"/>
          </a:p>
        </p:txBody>
      </p:sp>
      <p:sp>
        <p:nvSpPr>
          <p:cNvPr id="5" name="rec-card"/>
          <p:cNvSpPr/>
          <p:nvPr/>
        </p:nvSpPr>
        <p:spPr>
          <a:xfrm>
            <a:off x="640080" y="1783080"/>
            <a:ext cx="3520440" cy="4480560"/>
          </a:xfrm>
          <a:prstGeom prst="roundRect">
            <a:avLst>
              <a:gd name="adj" fmla="val 2078"/>
            </a:avLst>
          </a:prstGeom>
          <a:solidFill>
            <a:schemeClr val="bg1"/>
          </a:solidFill>
          <a:ln w="9525">
            <a:solidFill>
              <a:srgbClr val="E0E1DF"/>
            </a:solidFill>
            <a:prstDash val="solid"/>
          </a:ln>
        </p:spPr>
      </p:sp>
      <p:sp>
        <p:nvSpPr>
          <p:cNvPr id="6" name="Text 3"/>
          <p:cNvSpPr txBox="1"/>
          <p:nvPr/>
        </p:nvSpPr>
        <p:spPr>
          <a:xfrm>
            <a:off x="868680" y="1965960"/>
            <a:ext cx="548640" cy="365760"/>
          </a:xfrm>
          <a:prstGeom prst="rect">
            <a:avLst/>
          </a:prstGeom>
          <a:noFill/>
          <a:ln/>
        </p:spPr>
        <p:txBody>
          <a:bodyPr wrap="square" lIns="0" tIns="0" rIns="0" bIns="0" rtlCol="0" anchor="t"/>
          <a:lstStyle/>
          <a:p>
            <a:pPr marL="0" indent="0">
              <a:buNone/>
            </a:pPr>
            <a:r>
              <a:rPr lang="en-US" sz="2000" b="1" dirty="0">
                <a:solidFill>
                  <a:schemeClr val="accent2"/>
                </a:solidFill>
              </a:rPr>
              <a:t>1</a:t>
            </a:r>
            <a:endParaRPr lang="en-US" sz="2000" dirty="0"/>
          </a:p>
        </p:txBody>
      </p:sp>
      <p:sp>
        <p:nvSpPr>
          <p:cNvPr id="7" name="Text 4"/>
          <p:cNvSpPr txBox="1"/>
          <p:nvPr/>
        </p:nvSpPr>
        <p:spPr>
          <a:xfrm>
            <a:off x="1417320" y="1965960"/>
            <a:ext cx="2514600" cy="685800"/>
          </a:xfrm>
          <a:prstGeom prst="rect">
            <a:avLst/>
          </a:prstGeom>
          <a:noFill/>
          <a:ln/>
        </p:spPr>
        <p:txBody>
          <a:bodyPr wrap="square" lIns="0" tIns="0" rIns="0" bIns="0" rtlCol="0" anchor="t"/>
          <a:lstStyle/>
          <a:p>
            <a:pPr marL="0" indent="0">
              <a:buNone/>
            </a:pPr>
            <a:r>
              <a:rPr lang="en-US" sz="1600" b="1" dirty="0">
                <a:solidFill>
                  <a:schemeClr val="tx2"/>
                </a:solidFill>
              </a:rPr>
              <a:t>Kurangi keranjang ditinggalkan</a:t>
            </a:r>
            <a:endParaRPr lang="en-US" sz="1600" dirty="0"/>
          </a:p>
        </p:txBody>
      </p:sp>
      <p:sp>
        <p:nvSpPr>
          <p:cNvPr id="8" name="Text 5"/>
          <p:cNvSpPr txBox="1"/>
          <p:nvPr/>
        </p:nvSpPr>
        <p:spPr>
          <a:xfrm>
            <a:off x="868680" y="2743200"/>
            <a:ext cx="3063240" cy="228600"/>
          </a:xfrm>
          <a:prstGeom prst="rect">
            <a:avLst/>
          </a:prstGeom>
          <a:noFill/>
          <a:ln/>
        </p:spPr>
        <p:txBody>
          <a:bodyPr wrap="square" lIns="0" tIns="0" rIns="0" bIns="0" rtlCol="0" anchor="t"/>
          <a:lstStyle/>
          <a:p>
            <a:pPr marL="0" indent="0">
              <a:buNone/>
            </a:pPr>
            <a:r>
              <a:rPr lang="en-US" sz="1100" b="1" dirty="0">
                <a:solidFill>
                  <a:srgbClr val="4E5767"/>
                </a:solidFill>
              </a:rPr>
              <a:t>DASAR DATA</a:t>
            </a:r>
            <a:endParaRPr lang="en-US" sz="1100" dirty="0"/>
          </a:p>
        </p:txBody>
      </p:sp>
      <p:sp>
        <p:nvSpPr>
          <p:cNvPr id="9" name="Text 6"/>
          <p:cNvSpPr txBox="1"/>
          <p:nvPr/>
        </p:nvSpPr>
        <p:spPr>
          <a:xfrm>
            <a:off x="868680" y="2990088"/>
            <a:ext cx="3063240" cy="868680"/>
          </a:xfrm>
          <a:prstGeom prst="rect">
            <a:avLst/>
          </a:prstGeom>
          <a:noFill/>
          <a:ln/>
        </p:spPr>
        <p:txBody>
          <a:bodyPr wrap="square" lIns="0" tIns="0" rIns="0" bIns="0" rtlCol="0" anchor="t"/>
          <a:lstStyle/>
          <a:p>
            <a:pPr marL="0" indent="0">
              <a:buNone/>
            </a:pPr>
            <a:r>
              <a:rPr lang="en-US" sz="1300" dirty="0">
                <a:solidFill>
                  <a:schemeClr val="tx1"/>
                </a:solidFill>
              </a:rPr>
              <a:t>Sekitar separuh sesi berkeranjang tidak membeli; keranjang termahal dibeli 44,3% vs 58,0% termurah.</a:t>
            </a:r>
            <a:endParaRPr lang="en-US" sz="1300" dirty="0"/>
          </a:p>
        </p:txBody>
      </p:sp>
      <p:sp>
        <p:nvSpPr>
          <p:cNvPr id="10" name="Text 7"/>
          <p:cNvSpPr txBox="1"/>
          <p:nvPr/>
        </p:nvSpPr>
        <p:spPr>
          <a:xfrm>
            <a:off x="868680" y="3968496"/>
            <a:ext cx="3063240" cy="228600"/>
          </a:xfrm>
          <a:prstGeom prst="rect">
            <a:avLst/>
          </a:prstGeom>
          <a:noFill/>
          <a:ln/>
        </p:spPr>
        <p:txBody>
          <a:bodyPr wrap="square" lIns="0" tIns="0" rIns="0" bIns="0" rtlCol="0" anchor="t"/>
          <a:lstStyle/>
          <a:p>
            <a:pPr marL="0" indent="0">
              <a:buNone/>
            </a:pPr>
            <a:r>
              <a:rPr lang="en-US" sz="1100" b="1" dirty="0">
                <a:solidFill>
                  <a:srgbClr val="4E5767"/>
                </a:solidFill>
              </a:rPr>
              <a:t>TINDAKAN</a:t>
            </a:r>
            <a:endParaRPr lang="en-US" sz="1100" dirty="0"/>
          </a:p>
        </p:txBody>
      </p:sp>
      <p:sp>
        <p:nvSpPr>
          <p:cNvPr id="11" name="Text 8"/>
          <p:cNvSpPr txBox="1"/>
          <p:nvPr/>
        </p:nvSpPr>
        <p:spPr>
          <a:xfrm>
            <a:off x="868680" y="4215384"/>
            <a:ext cx="3063240" cy="868680"/>
          </a:xfrm>
          <a:prstGeom prst="rect">
            <a:avLst/>
          </a:prstGeom>
          <a:noFill/>
          <a:ln/>
        </p:spPr>
        <p:txBody>
          <a:bodyPr wrap="square" lIns="0" tIns="0" rIns="0" bIns="0" rtlCol="0" anchor="t"/>
          <a:lstStyle/>
          <a:p>
            <a:pPr marL="0" indent="0">
              <a:buNone/>
            </a:pPr>
            <a:r>
              <a:rPr lang="en-US" sz="1300" dirty="0">
                <a:solidFill>
                  <a:schemeClr val="tx1"/>
                </a:solidFill>
              </a:rPr>
              <a:t>Pengingat keranjang di dalam sesi, kejelasan total biaya, opsi pembayaran untuk keranjang bernilai tinggi.</a:t>
            </a:r>
            <a:endParaRPr lang="en-US" sz="1300" dirty="0"/>
          </a:p>
        </p:txBody>
      </p:sp>
      <p:sp>
        <p:nvSpPr>
          <p:cNvPr id="12" name="Text 9"/>
          <p:cNvSpPr txBox="1"/>
          <p:nvPr/>
        </p:nvSpPr>
        <p:spPr>
          <a:xfrm>
            <a:off x="868680" y="5193792"/>
            <a:ext cx="3063240" cy="228600"/>
          </a:xfrm>
          <a:prstGeom prst="rect">
            <a:avLst/>
          </a:prstGeom>
          <a:noFill/>
          <a:ln/>
        </p:spPr>
        <p:txBody>
          <a:bodyPr wrap="square" lIns="0" tIns="0" rIns="0" bIns="0" rtlCol="0" anchor="t"/>
          <a:lstStyle/>
          <a:p>
            <a:pPr marL="0" indent="0">
              <a:buNone/>
            </a:pPr>
            <a:r>
              <a:rPr lang="en-US" sz="1100" b="1" dirty="0">
                <a:solidFill>
                  <a:srgbClr val="4E5767"/>
                </a:solidFill>
              </a:rPr>
              <a:t>SKENARIO</a:t>
            </a:r>
            <a:endParaRPr lang="en-US" sz="1100" dirty="0"/>
          </a:p>
        </p:txBody>
      </p:sp>
      <p:sp>
        <p:nvSpPr>
          <p:cNvPr id="13" name="Text 10"/>
          <p:cNvSpPr txBox="1"/>
          <p:nvPr/>
        </p:nvSpPr>
        <p:spPr>
          <a:xfrm>
            <a:off x="868680" y="5440680"/>
            <a:ext cx="3063240" cy="868680"/>
          </a:xfrm>
          <a:prstGeom prst="rect">
            <a:avLst/>
          </a:prstGeom>
          <a:noFill/>
          <a:ln/>
        </p:spPr>
        <p:txBody>
          <a:bodyPr wrap="square" lIns="0" tIns="0" rIns="0" bIns="0" rtlCol="0" anchor="t"/>
          <a:lstStyle/>
          <a:p>
            <a:pPr marL="0" indent="0">
              <a:buNone/>
            </a:pPr>
            <a:r>
              <a:rPr lang="en-US" sz="1300" dirty="0">
                <a:solidFill>
                  <a:schemeClr val="tx1"/>
                </a:solidFill>
              </a:rPr>
              <a:t>10% keranjang ditinggalkan jadi pembelian menambah sekitar 1.270 pembelian (10,4%).</a:t>
            </a:r>
            <a:endParaRPr lang="en-US" sz="1300" dirty="0"/>
          </a:p>
        </p:txBody>
      </p:sp>
      <p:sp>
        <p:nvSpPr>
          <p:cNvPr id="14" name="rec-card"/>
          <p:cNvSpPr/>
          <p:nvPr/>
        </p:nvSpPr>
        <p:spPr>
          <a:xfrm>
            <a:off x="4334256" y="1783080"/>
            <a:ext cx="3520440" cy="4480560"/>
          </a:xfrm>
          <a:prstGeom prst="roundRect">
            <a:avLst>
              <a:gd name="adj" fmla="val 2078"/>
            </a:avLst>
          </a:prstGeom>
          <a:solidFill>
            <a:schemeClr val="bg1"/>
          </a:solidFill>
          <a:ln w="9525">
            <a:solidFill>
              <a:srgbClr val="E0E1DF"/>
            </a:solidFill>
            <a:prstDash val="solid"/>
          </a:ln>
        </p:spPr>
      </p:sp>
      <p:sp>
        <p:nvSpPr>
          <p:cNvPr id="15" name="Text 12"/>
          <p:cNvSpPr txBox="1"/>
          <p:nvPr/>
        </p:nvSpPr>
        <p:spPr>
          <a:xfrm>
            <a:off x="4562856" y="1965960"/>
            <a:ext cx="548640" cy="365760"/>
          </a:xfrm>
          <a:prstGeom prst="rect">
            <a:avLst/>
          </a:prstGeom>
          <a:noFill/>
          <a:ln/>
        </p:spPr>
        <p:txBody>
          <a:bodyPr wrap="square" lIns="0" tIns="0" rIns="0" bIns="0" rtlCol="0" anchor="t"/>
          <a:lstStyle/>
          <a:p>
            <a:pPr marL="0" indent="0">
              <a:buNone/>
            </a:pPr>
            <a:r>
              <a:rPr lang="en-US" sz="2000" b="1" dirty="0">
                <a:solidFill>
                  <a:schemeClr val="accent1"/>
                </a:solidFill>
              </a:rPr>
              <a:t>2</a:t>
            </a:r>
            <a:endParaRPr lang="en-US" sz="2000" dirty="0"/>
          </a:p>
        </p:txBody>
      </p:sp>
      <p:sp>
        <p:nvSpPr>
          <p:cNvPr id="16" name="Text 13"/>
          <p:cNvSpPr txBox="1"/>
          <p:nvPr/>
        </p:nvSpPr>
        <p:spPr>
          <a:xfrm>
            <a:off x="5111496" y="1965960"/>
            <a:ext cx="2514600" cy="685800"/>
          </a:xfrm>
          <a:prstGeom prst="rect">
            <a:avLst/>
          </a:prstGeom>
          <a:noFill/>
          <a:ln/>
        </p:spPr>
        <p:txBody>
          <a:bodyPr wrap="square" lIns="0" tIns="0" rIns="0" bIns="0" rtlCol="0" anchor="t"/>
          <a:lstStyle/>
          <a:p>
            <a:pPr marL="0" indent="0">
              <a:buNone/>
            </a:pPr>
            <a:r>
              <a:rPr lang="en-US" sz="1600" b="1" dirty="0">
                <a:solidFill>
                  <a:schemeClr val="tx2"/>
                </a:solidFill>
              </a:rPr>
              <a:t>Angkat produk ekor panjang</a:t>
            </a:r>
            <a:endParaRPr lang="en-US" sz="1600" dirty="0"/>
          </a:p>
        </p:txBody>
      </p:sp>
      <p:sp>
        <p:nvSpPr>
          <p:cNvPr id="17" name="Text 14"/>
          <p:cNvSpPr txBox="1"/>
          <p:nvPr/>
        </p:nvSpPr>
        <p:spPr>
          <a:xfrm>
            <a:off x="4562856" y="2743200"/>
            <a:ext cx="3063240" cy="228600"/>
          </a:xfrm>
          <a:prstGeom prst="rect">
            <a:avLst/>
          </a:prstGeom>
          <a:noFill/>
          <a:ln/>
        </p:spPr>
        <p:txBody>
          <a:bodyPr wrap="square" lIns="0" tIns="0" rIns="0" bIns="0" rtlCol="0" anchor="t"/>
          <a:lstStyle/>
          <a:p>
            <a:pPr marL="0" indent="0">
              <a:buNone/>
            </a:pPr>
            <a:r>
              <a:rPr lang="en-US" sz="1100" b="1" dirty="0">
                <a:solidFill>
                  <a:srgbClr val="4E5767"/>
                </a:solidFill>
              </a:rPr>
              <a:t>DASAR DATA</a:t>
            </a:r>
            <a:endParaRPr lang="en-US" sz="1100" dirty="0"/>
          </a:p>
        </p:txBody>
      </p:sp>
      <p:sp>
        <p:nvSpPr>
          <p:cNvPr id="18" name="Text 15"/>
          <p:cNvSpPr txBox="1"/>
          <p:nvPr/>
        </p:nvSpPr>
        <p:spPr>
          <a:xfrm>
            <a:off x="4562856" y="2990088"/>
            <a:ext cx="3063240" cy="868680"/>
          </a:xfrm>
          <a:prstGeom prst="rect">
            <a:avLst/>
          </a:prstGeom>
          <a:noFill/>
          <a:ln/>
        </p:spPr>
        <p:txBody>
          <a:bodyPr wrap="square" lIns="0" tIns="0" rIns="0" bIns="0" rtlCol="0" anchor="t"/>
          <a:lstStyle/>
          <a:p>
            <a:pPr marL="0" indent="0">
              <a:buNone/>
            </a:pPr>
            <a:r>
              <a:rPr lang="en-US" sz="1300" dirty="0">
                <a:solidFill>
                  <a:schemeClr val="tx1"/>
                </a:solidFill>
              </a:rPr>
              <a:t>Produk paling jarang dilihat berkonversi 2,2% vs 7,7% untuk yang paling populer.</a:t>
            </a:r>
            <a:endParaRPr lang="en-US" sz="1300" dirty="0"/>
          </a:p>
        </p:txBody>
      </p:sp>
      <p:sp>
        <p:nvSpPr>
          <p:cNvPr id="19" name="Text 16"/>
          <p:cNvSpPr txBox="1"/>
          <p:nvPr/>
        </p:nvSpPr>
        <p:spPr>
          <a:xfrm>
            <a:off x="4562856" y="3968496"/>
            <a:ext cx="3063240" cy="228600"/>
          </a:xfrm>
          <a:prstGeom prst="rect">
            <a:avLst/>
          </a:prstGeom>
          <a:noFill/>
          <a:ln/>
        </p:spPr>
        <p:txBody>
          <a:bodyPr wrap="square" lIns="0" tIns="0" rIns="0" bIns="0" rtlCol="0" anchor="t"/>
          <a:lstStyle/>
          <a:p>
            <a:pPr marL="0" indent="0">
              <a:buNone/>
            </a:pPr>
            <a:r>
              <a:rPr lang="en-US" sz="1100" b="1" dirty="0">
                <a:solidFill>
                  <a:srgbClr val="4E5767"/>
                </a:solidFill>
              </a:rPr>
              <a:t>TINDAKAN</a:t>
            </a:r>
            <a:endParaRPr lang="en-US" sz="1100" dirty="0"/>
          </a:p>
        </p:txBody>
      </p:sp>
      <p:sp>
        <p:nvSpPr>
          <p:cNvPr id="20" name="Text 17"/>
          <p:cNvSpPr txBox="1"/>
          <p:nvPr/>
        </p:nvSpPr>
        <p:spPr>
          <a:xfrm>
            <a:off x="4562856" y="4215384"/>
            <a:ext cx="3063240" cy="594360"/>
          </a:xfrm>
          <a:prstGeom prst="rect">
            <a:avLst/>
          </a:prstGeom>
          <a:noFill/>
          <a:ln/>
        </p:spPr>
        <p:txBody>
          <a:bodyPr wrap="square" lIns="0" tIns="0" rIns="0" bIns="0" rtlCol="0" anchor="t"/>
          <a:lstStyle/>
          <a:p>
            <a:pPr marL="0" indent="0">
              <a:buNone/>
            </a:pPr>
            <a:r>
              <a:rPr lang="en-US" sz="1300" dirty="0">
                <a:solidFill>
                  <a:schemeClr val="tx1"/>
                </a:solidFill>
              </a:rPr>
              <a:t>Rekomendasi, pencarian, dan bundling untuk produk ekor panjang.</a:t>
            </a:r>
            <a:endParaRPr lang="en-US" sz="1300" dirty="0"/>
          </a:p>
        </p:txBody>
      </p:sp>
      <p:sp>
        <p:nvSpPr>
          <p:cNvPr id="21" name="Text 18"/>
          <p:cNvSpPr txBox="1"/>
          <p:nvPr/>
        </p:nvSpPr>
        <p:spPr>
          <a:xfrm>
            <a:off x="4562856" y="4919472"/>
            <a:ext cx="3063240" cy="228600"/>
          </a:xfrm>
          <a:prstGeom prst="rect">
            <a:avLst/>
          </a:prstGeom>
          <a:noFill/>
          <a:ln/>
        </p:spPr>
        <p:txBody>
          <a:bodyPr wrap="square" lIns="0" tIns="0" rIns="0" bIns="0" rtlCol="0" anchor="t"/>
          <a:lstStyle/>
          <a:p>
            <a:pPr marL="0" indent="0">
              <a:buNone/>
            </a:pPr>
            <a:r>
              <a:rPr lang="en-US" sz="1100" b="1" dirty="0">
                <a:solidFill>
                  <a:srgbClr val="4E5767"/>
                </a:solidFill>
              </a:rPr>
              <a:t>SKENARIO</a:t>
            </a:r>
            <a:endParaRPr lang="en-US" sz="1100" dirty="0"/>
          </a:p>
        </p:txBody>
      </p:sp>
      <p:sp>
        <p:nvSpPr>
          <p:cNvPr id="22" name="Text 19"/>
          <p:cNvSpPr txBox="1"/>
          <p:nvPr/>
        </p:nvSpPr>
        <p:spPr>
          <a:xfrm>
            <a:off x="4562856" y="5166360"/>
            <a:ext cx="3063240" cy="868680"/>
          </a:xfrm>
          <a:prstGeom prst="rect">
            <a:avLst/>
          </a:prstGeom>
          <a:noFill/>
          <a:ln/>
        </p:spPr>
        <p:txBody>
          <a:bodyPr wrap="square" lIns="0" tIns="0" rIns="0" bIns="0" rtlCol="0" anchor="t"/>
          <a:lstStyle/>
          <a:p>
            <a:pPr marL="0" indent="0">
              <a:buNone/>
            </a:pPr>
            <a:r>
              <a:rPr lang="en-US" sz="1300" dirty="0">
                <a:solidFill>
                  <a:schemeClr val="tx1"/>
                </a:solidFill>
              </a:rPr>
              <a:t>Naik ke 3,3% menambah sekitar 750 pembelian (6,2%). Asumsi kausal.</a:t>
            </a:r>
            <a:endParaRPr lang="en-US" sz="1300" dirty="0"/>
          </a:p>
        </p:txBody>
      </p:sp>
      <p:sp>
        <p:nvSpPr>
          <p:cNvPr id="23" name="rec-card"/>
          <p:cNvSpPr/>
          <p:nvPr/>
        </p:nvSpPr>
        <p:spPr>
          <a:xfrm>
            <a:off x="8028432" y="1783080"/>
            <a:ext cx="3520440" cy="4480560"/>
          </a:xfrm>
          <a:prstGeom prst="roundRect">
            <a:avLst>
              <a:gd name="adj" fmla="val 2078"/>
            </a:avLst>
          </a:prstGeom>
          <a:solidFill>
            <a:schemeClr val="bg1"/>
          </a:solidFill>
          <a:ln w="9525">
            <a:solidFill>
              <a:srgbClr val="E0E1DF"/>
            </a:solidFill>
            <a:prstDash val="solid"/>
          </a:ln>
        </p:spPr>
      </p:sp>
      <p:sp>
        <p:nvSpPr>
          <p:cNvPr id="24" name="Text 21"/>
          <p:cNvSpPr txBox="1"/>
          <p:nvPr/>
        </p:nvSpPr>
        <p:spPr>
          <a:xfrm>
            <a:off x="8257032" y="1965960"/>
            <a:ext cx="548640" cy="365760"/>
          </a:xfrm>
          <a:prstGeom prst="rect">
            <a:avLst/>
          </a:prstGeom>
          <a:noFill/>
          <a:ln/>
        </p:spPr>
        <p:txBody>
          <a:bodyPr wrap="square" lIns="0" tIns="0" rIns="0" bIns="0" rtlCol="0" anchor="t"/>
          <a:lstStyle/>
          <a:p>
            <a:pPr marL="0" indent="0">
              <a:buNone/>
            </a:pPr>
            <a:r>
              <a:rPr lang="en-US" sz="2000" b="1" dirty="0">
                <a:solidFill>
                  <a:schemeClr val="accent1"/>
                </a:solidFill>
              </a:rPr>
              <a:t>3</a:t>
            </a:r>
            <a:endParaRPr lang="en-US" sz="2000" dirty="0"/>
          </a:p>
        </p:txBody>
      </p:sp>
      <p:sp>
        <p:nvSpPr>
          <p:cNvPr id="25" name="Text 22"/>
          <p:cNvSpPr txBox="1"/>
          <p:nvPr/>
        </p:nvSpPr>
        <p:spPr>
          <a:xfrm>
            <a:off x="8805672" y="1965960"/>
            <a:ext cx="2514600" cy="685800"/>
          </a:xfrm>
          <a:prstGeom prst="rect">
            <a:avLst/>
          </a:prstGeom>
          <a:noFill/>
          <a:ln/>
        </p:spPr>
        <p:txBody>
          <a:bodyPr wrap="square" lIns="0" tIns="0" rIns="0" bIns="0" rtlCol="0" anchor="t"/>
          <a:lstStyle/>
          <a:p>
            <a:pPr marL="0" indent="0">
              <a:buNone/>
            </a:pPr>
            <a:r>
              <a:rPr lang="en-US" sz="1600" b="1" dirty="0">
                <a:solidFill>
                  <a:schemeClr val="tx2"/>
                </a:solidFill>
              </a:rPr>
              <a:t>Perluas penjelajahan di kunjungan pertama</a:t>
            </a:r>
            <a:endParaRPr lang="en-US" sz="1600" dirty="0"/>
          </a:p>
        </p:txBody>
      </p:sp>
      <p:sp>
        <p:nvSpPr>
          <p:cNvPr id="26" name="Text 23"/>
          <p:cNvSpPr txBox="1"/>
          <p:nvPr/>
        </p:nvSpPr>
        <p:spPr>
          <a:xfrm>
            <a:off x="8257032" y="2743200"/>
            <a:ext cx="3063240" cy="228600"/>
          </a:xfrm>
          <a:prstGeom prst="rect">
            <a:avLst/>
          </a:prstGeom>
          <a:noFill/>
          <a:ln/>
        </p:spPr>
        <p:txBody>
          <a:bodyPr wrap="square" lIns="0" tIns="0" rIns="0" bIns="0" rtlCol="0" anchor="t"/>
          <a:lstStyle/>
          <a:p>
            <a:pPr marL="0" indent="0">
              <a:buNone/>
            </a:pPr>
            <a:r>
              <a:rPr lang="en-US" sz="1100" b="1" dirty="0">
                <a:solidFill>
                  <a:srgbClr val="4E5767"/>
                </a:solidFill>
              </a:rPr>
              <a:t>DASAR DATA</a:t>
            </a:r>
            <a:endParaRPr lang="en-US" sz="1100" dirty="0"/>
          </a:p>
        </p:txBody>
      </p:sp>
      <p:sp>
        <p:nvSpPr>
          <p:cNvPr id="27" name="Text 24"/>
          <p:cNvSpPr txBox="1"/>
          <p:nvPr/>
        </p:nvSpPr>
        <p:spPr>
          <a:xfrm>
            <a:off x="8257032" y="2990088"/>
            <a:ext cx="3063240" cy="868680"/>
          </a:xfrm>
          <a:prstGeom prst="rect">
            <a:avLst/>
          </a:prstGeom>
          <a:noFill/>
          <a:ln/>
        </p:spPr>
        <p:txBody>
          <a:bodyPr wrap="square" lIns="0" tIns="0" rIns="0" bIns="0" rtlCol="0" anchor="t"/>
          <a:lstStyle/>
          <a:p>
            <a:pPr marL="0" indent="0">
              <a:buNone/>
            </a:pPr>
            <a:r>
              <a:rPr lang="en-US" sz="1300" dirty="0">
                <a:solidFill>
                  <a:schemeClr val="tx1"/>
                </a:solidFill>
              </a:rPr>
              <a:t>Kunjungan pertama 1 view: 64,1% sesi, konversi 3,1% vs 5,8% bila 2+ view.</a:t>
            </a:r>
            <a:endParaRPr lang="en-US" sz="1300" dirty="0"/>
          </a:p>
        </p:txBody>
      </p:sp>
      <p:sp>
        <p:nvSpPr>
          <p:cNvPr id="28" name="Text 25"/>
          <p:cNvSpPr txBox="1"/>
          <p:nvPr/>
        </p:nvSpPr>
        <p:spPr>
          <a:xfrm>
            <a:off x="8257032" y="3968496"/>
            <a:ext cx="3063240" cy="228600"/>
          </a:xfrm>
          <a:prstGeom prst="rect">
            <a:avLst/>
          </a:prstGeom>
          <a:noFill/>
          <a:ln/>
        </p:spPr>
        <p:txBody>
          <a:bodyPr wrap="square" lIns="0" tIns="0" rIns="0" bIns="0" rtlCol="0" anchor="t"/>
          <a:lstStyle/>
          <a:p>
            <a:pPr marL="0" indent="0">
              <a:buNone/>
            </a:pPr>
            <a:r>
              <a:rPr lang="en-US" sz="1100" b="1" dirty="0">
                <a:solidFill>
                  <a:srgbClr val="4E5767"/>
                </a:solidFill>
              </a:rPr>
              <a:t>TINDAKAN</a:t>
            </a:r>
            <a:endParaRPr lang="en-US" sz="1100" dirty="0"/>
          </a:p>
        </p:txBody>
      </p:sp>
      <p:sp>
        <p:nvSpPr>
          <p:cNvPr id="29" name="Text 26"/>
          <p:cNvSpPr txBox="1"/>
          <p:nvPr/>
        </p:nvSpPr>
        <p:spPr>
          <a:xfrm>
            <a:off x="8257032" y="4215384"/>
            <a:ext cx="3063240" cy="868680"/>
          </a:xfrm>
          <a:prstGeom prst="rect">
            <a:avLst/>
          </a:prstGeom>
          <a:noFill/>
          <a:ln/>
        </p:spPr>
        <p:txBody>
          <a:bodyPr wrap="square" lIns="0" tIns="0" rIns="0" bIns="0" rtlCol="0" anchor="t"/>
          <a:lstStyle/>
          <a:p>
            <a:pPr marL="0" indent="0">
              <a:buNone/>
            </a:pPr>
            <a:r>
              <a:rPr lang="en-US" sz="1300" dirty="0">
                <a:solidFill>
                  <a:schemeClr val="tx1"/>
                </a:solidFill>
              </a:rPr>
              <a:t>Tampilkan produk serupa dan perbandingan sejak produk pertama dilihat.</a:t>
            </a:r>
            <a:endParaRPr lang="en-US" sz="1300" dirty="0"/>
          </a:p>
        </p:txBody>
      </p:sp>
      <p:sp>
        <p:nvSpPr>
          <p:cNvPr id="30" name="Text 27"/>
          <p:cNvSpPr txBox="1"/>
          <p:nvPr/>
        </p:nvSpPr>
        <p:spPr>
          <a:xfrm>
            <a:off x="8257032" y="5193792"/>
            <a:ext cx="3063240" cy="228600"/>
          </a:xfrm>
          <a:prstGeom prst="rect">
            <a:avLst/>
          </a:prstGeom>
          <a:noFill/>
          <a:ln/>
        </p:spPr>
        <p:txBody>
          <a:bodyPr wrap="square" lIns="0" tIns="0" rIns="0" bIns="0" rtlCol="0" anchor="t"/>
          <a:lstStyle/>
          <a:p>
            <a:pPr marL="0" indent="0">
              <a:buNone/>
            </a:pPr>
            <a:r>
              <a:rPr lang="en-US" sz="1100" b="1" dirty="0">
                <a:solidFill>
                  <a:srgbClr val="4E5767"/>
                </a:solidFill>
              </a:rPr>
              <a:t>SKENARIO</a:t>
            </a:r>
            <a:endParaRPr lang="en-US" sz="1100" dirty="0"/>
          </a:p>
        </p:txBody>
      </p:sp>
      <p:sp>
        <p:nvSpPr>
          <p:cNvPr id="31" name="Text 28"/>
          <p:cNvSpPr txBox="1"/>
          <p:nvPr/>
        </p:nvSpPr>
        <p:spPr>
          <a:xfrm>
            <a:off x="8257032" y="5440680"/>
            <a:ext cx="3063240" cy="868680"/>
          </a:xfrm>
          <a:prstGeom prst="rect">
            <a:avLst/>
          </a:prstGeom>
          <a:noFill/>
          <a:ln/>
        </p:spPr>
        <p:txBody>
          <a:bodyPr wrap="square" lIns="0" tIns="0" rIns="0" bIns="0" rtlCol="0" anchor="t"/>
          <a:lstStyle/>
          <a:p>
            <a:pPr marL="0" indent="0">
              <a:buNone/>
            </a:pPr>
            <a:r>
              <a:rPr lang="en-US" sz="1300" dirty="0">
                <a:solidFill>
                  <a:schemeClr val="tx1"/>
                </a:solidFill>
              </a:rPr>
              <a:t>10% berpindah menambah sekitar 470 pembelian (3,9%). Asumsi kausal.</a:t>
            </a:r>
            <a:endParaRPr lang="en-US" sz="1300" dirty="0"/>
          </a:p>
        </p:txBody>
      </p:sp>
      <p:sp>
        <p:nvSpPr>
          <p:cNvPr id="4"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77440"/>
            <a:ext cx="10058400" cy="1097280"/>
          </a:xfrm>
          <a:prstGeom prst="rect">
            <a:avLst/>
          </a:prstGeom>
          <a:noFill/>
          <a:ln/>
        </p:spPr>
        <p:txBody>
          <a:bodyPr wrap="square" lIns="0" tIns="0" rIns="0" bIns="0" rtlCol="0" anchor="t"/>
          <a:lstStyle/>
          <a:p>
            <a:pPr marL="0" indent="0" algn="l">
              <a:buNone/>
            </a:pPr>
            <a:r>
              <a:rPr lang="en-US" sz="4800" dirty="0">
                <a:solidFill>
                  <a:schemeClr val="bg1"/>
                </a:solidFill>
              </a:rPr>
              <a:t>Thank You.</a:t>
            </a:r>
            <a:endParaRPr lang="en-US" sz="4800" dirty="0"/>
          </a:p>
        </p:txBody>
      </p:sp>
      <p:sp>
        <p:nvSpPr>
          <p:cNvPr id="4" name="Text 1"/>
          <p:cNvSpPr txBox="1"/>
          <p:nvPr/>
        </p:nvSpPr>
        <p:spPr>
          <a:xfrm>
            <a:off x="822960" y="3566160"/>
            <a:ext cx="10058400" cy="365760"/>
          </a:xfrm>
          <a:prstGeom prst="rect">
            <a:avLst/>
          </a:prstGeom>
          <a:noFill/>
          <a:ln/>
        </p:spPr>
        <p:txBody>
          <a:bodyPr wrap="square" lIns="0" tIns="0" rIns="0" bIns="0" rtlCol="0" anchor="t"/>
          <a:lstStyle/>
          <a:p>
            <a:pPr marL="0" indent="0">
              <a:buNone/>
            </a:pPr>
            <a:r>
              <a:rPr lang="en-US" sz="1600" dirty="0">
                <a:solidFill>
                  <a:schemeClr val="accent3"/>
                </a:solidFill>
              </a:rPr>
              <a:t>Frederick Rianto Putra  |  Data Analyst Bootcamp, Dibimbing</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9601200" cy="320040"/>
          </a:xfrm>
          <a:prstGeom prst="rect">
            <a:avLst/>
          </a:prstGeom>
          <a:noFill/>
          <a:ln/>
        </p:spPr>
        <p:txBody>
          <a:bodyPr wrap="square" lIns="0" tIns="0" rIns="0" bIns="0" rtlCol="0" anchor="t"/>
          <a:lstStyle/>
          <a:p>
            <a:pPr marL="0" indent="0" algn="l">
              <a:buNone/>
            </a:pPr>
            <a:r>
              <a:rPr lang="en-US" sz="1400" b="1" dirty="0">
                <a:solidFill>
                  <a:schemeClr val="accent2"/>
                </a:solidFill>
              </a:rPr>
              <a:t>08 — Link Support</a:t>
            </a:r>
            <a:endParaRPr lang="en-US" sz="1400" dirty="0"/>
          </a:p>
        </p:txBody>
      </p:sp>
      <p:sp>
        <p:nvSpPr>
          <p:cNvPr id="3" name="Text 0"/>
          <p:cNvSpPr>
            <a:spLocks noGrp="1"/>
          </p:cNvSpPr>
          <p:nvPr>
            <p:ph type="title" idx="101" hasCustomPrompt="1"/>
          </p:nvPr>
        </p:nvSpPr>
        <p:spPr>
          <a:xfrm>
            <a:off x="640080" y="804672"/>
            <a:ext cx="10881360" cy="731520"/>
          </a:xfrm>
          <a:prstGeom prst="rect">
            <a:avLst/>
          </a:prstGeom>
          <a:noFill/>
          <a:ln/>
        </p:spPr>
        <p:txBody>
          <a:bodyPr wrap="square" lIns="0" tIns="0" rIns="0" bIns="0" rtlCol="0" anchor="t"/>
          <a:lstStyle/>
          <a:p>
            <a:pPr marL="0" indent="0" algn="l">
              <a:buNone/>
            </a:pPr>
            <a:r>
              <a:rPr lang="en-US" sz="3000" dirty="0">
                <a:solidFill>
                  <a:schemeClr val="tx2"/>
                </a:solidFill>
              </a:rPr>
              <a:t>Link Support</a:t>
            </a:r>
            <a:endParaRPr lang="en-US" sz="3000" dirty="0"/>
          </a:p>
        </p:txBody>
      </p:sp>
      <p:sp>
        <p:nvSpPr>
          <p:cNvPr id="5" name="link-card"/>
          <p:cNvSpPr/>
          <p:nvPr/>
        </p:nvSpPr>
        <p:spPr>
          <a:xfrm>
            <a:off x="640080" y="1920240"/>
            <a:ext cx="10908792" cy="1005840"/>
          </a:xfrm>
          <a:prstGeom prst="roundRect">
            <a:avLst>
              <a:gd name="adj" fmla="val 7273"/>
            </a:avLst>
          </a:prstGeom>
          <a:solidFill>
            <a:schemeClr val="bg1"/>
          </a:solidFill>
          <a:ln w="9525">
            <a:solidFill>
              <a:srgbClr val="E0E1DF"/>
            </a:solidFill>
            <a:prstDash val="solid"/>
          </a:ln>
        </p:spPr>
      </p:sp>
      <p:sp>
        <p:nvSpPr>
          <p:cNvPr id="6" name="Text 3"/>
          <p:cNvSpPr txBox="1"/>
          <p:nvPr/>
        </p:nvSpPr>
        <p:spPr>
          <a:xfrm>
            <a:off x="914400" y="1920240"/>
            <a:ext cx="2743200" cy="1005840"/>
          </a:xfrm>
          <a:prstGeom prst="rect">
            <a:avLst/>
          </a:prstGeom>
          <a:noFill/>
          <a:ln/>
        </p:spPr>
        <p:txBody>
          <a:bodyPr wrap="square" lIns="0" tIns="0" rIns="0" bIns="0" rtlCol="0" anchor="ctr"/>
          <a:lstStyle/>
          <a:p>
            <a:pPr marL="0" indent="0">
              <a:buNone/>
            </a:pPr>
            <a:r>
              <a:rPr lang="en-US" sz="1600" b="1" dirty="0">
                <a:solidFill>
                  <a:schemeClr val="accent1"/>
                </a:solidFill>
              </a:rPr>
              <a:t>Dataset</a:t>
            </a:r>
            <a:endParaRPr lang="en-US" sz="1600" dirty="0"/>
          </a:p>
        </p:txBody>
      </p:sp>
      <p:sp>
        <p:nvSpPr>
          <p:cNvPr id="7" name="Text 4"/>
          <p:cNvSpPr txBox="1"/>
          <p:nvPr/>
        </p:nvSpPr>
        <p:spPr>
          <a:xfrm>
            <a:off x="3657600" y="1920240"/>
            <a:ext cx="7680960" cy="1005840"/>
          </a:xfrm>
          <a:prstGeom prst="rect">
            <a:avLst/>
          </a:prstGeom>
          <a:noFill/>
          <a:ln/>
        </p:spPr>
        <p:txBody>
          <a:bodyPr wrap="square" lIns="0" tIns="0" rIns="0" bIns="0" rtlCol="0" anchor="ctr"/>
          <a:lstStyle/>
          <a:p>
            <a:pPr marL="0" indent="0">
              <a:buNone/>
            </a:pPr>
            <a:r>
              <a:rPr lang="en-US" sz="1400" dirty="0">
                <a:solidFill>
                  <a:schemeClr val="tx1"/>
                </a:solidFill>
              </a:rPr>
              <a:t>https://www.kaggle.com/datasets/mkechinov/ecommerce-events-history-in-electronics-store</a:t>
            </a:r>
            <a:endParaRPr lang="en-US" sz="1400" dirty="0"/>
          </a:p>
        </p:txBody>
      </p:sp>
      <p:sp>
        <p:nvSpPr>
          <p:cNvPr id="8" name="link-card"/>
          <p:cNvSpPr/>
          <p:nvPr/>
        </p:nvSpPr>
        <p:spPr>
          <a:xfrm>
            <a:off x="640080" y="3108960"/>
            <a:ext cx="10908792" cy="1005840"/>
          </a:xfrm>
          <a:prstGeom prst="roundRect">
            <a:avLst>
              <a:gd name="adj" fmla="val 7273"/>
            </a:avLst>
          </a:prstGeom>
          <a:solidFill>
            <a:schemeClr val="bg1"/>
          </a:solidFill>
          <a:ln w="9525">
            <a:solidFill>
              <a:srgbClr val="E0E1DF"/>
            </a:solidFill>
            <a:prstDash val="solid"/>
          </a:ln>
        </p:spPr>
      </p:sp>
      <p:sp>
        <p:nvSpPr>
          <p:cNvPr id="9" name="Text 6"/>
          <p:cNvSpPr txBox="1"/>
          <p:nvPr/>
        </p:nvSpPr>
        <p:spPr>
          <a:xfrm>
            <a:off x="914400" y="3108960"/>
            <a:ext cx="2743200" cy="1005840"/>
          </a:xfrm>
          <a:prstGeom prst="rect">
            <a:avLst/>
          </a:prstGeom>
          <a:noFill/>
          <a:ln/>
        </p:spPr>
        <p:txBody>
          <a:bodyPr wrap="square" lIns="0" tIns="0" rIns="0" bIns="0" rtlCol="0" anchor="ctr"/>
          <a:lstStyle/>
          <a:p>
            <a:pPr marL="0" indent="0">
              <a:buNone/>
            </a:pPr>
            <a:r>
              <a:rPr lang="en-US" sz="1600" b="1" dirty="0">
                <a:solidFill>
                  <a:schemeClr val="accent1"/>
                </a:solidFill>
              </a:rPr>
              <a:t>Notebook (ipynb)</a:t>
            </a:r>
            <a:endParaRPr lang="en-US" sz="1600" dirty="0"/>
          </a:p>
        </p:txBody>
      </p:sp>
      <p:sp>
        <p:nvSpPr>
          <p:cNvPr id="10" name="Text 7"/>
          <p:cNvSpPr txBox="1"/>
          <p:nvPr/>
        </p:nvSpPr>
        <p:spPr>
          <a:xfrm>
            <a:off x="3657600" y="3108960"/>
            <a:ext cx="7680960" cy="1005840"/>
          </a:xfrm>
          <a:prstGeom prst="rect">
            <a:avLst/>
          </a:prstGeom>
          <a:noFill/>
          <a:ln/>
        </p:spPr>
        <p:txBody>
          <a:bodyPr wrap="square" lIns="0" tIns="0" rIns="0" bIns="0" rtlCol="0" anchor="ctr"/>
          <a:lstStyle/>
          <a:p>
            <a:pPr marL="0" indent="0">
              <a:buNone/>
            </a:pPr>
            <a:r>
              <a:rPr lang="en-US" sz="1400" dirty="0">
                <a:solidFill>
                  <a:schemeClr val="tx1"/>
                </a:solidFill>
              </a:rPr>
              <a:t>[isi link GitHub setelah push]</a:t>
            </a:r>
            <a:endParaRPr lang="en-US" sz="1400" dirty="0"/>
          </a:p>
        </p:txBody>
      </p:sp>
      <p:sp>
        <p:nvSpPr>
          <p:cNvPr id="11" name="link-card"/>
          <p:cNvSpPr/>
          <p:nvPr/>
        </p:nvSpPr>
        <p:spPr>
          <a:xfrm>
            <a:off x="640080" y="4297680"/>
            <a:ext cx="10908792" cy="1005840"/>
          </a:xfrm>
          <a:prstGeom prst="roundRect">
            <a:avLst>
              <a:gd name="adj" fmla="val 7273"/>
            </a:avLst>
          </a:prstGeom>
          <a:solidFill>
            <a:schemeClr val="bg1"/>
          </a:solidFill>
          <a:ln w="9525">
            <a:solidFill>
              <a:srgbClr val="E0E1DF"/>
            </a:solidFill>
            <a:prstDash val="solid"/>
          </a:ln>
        </p:spPr>
      </p:sp>
      <p:sp>
        <p:nvSpPr>
          <p:cNvPr id="12" name="Text 9"/>
          <p:cNvSpPr txBox="1"/>
          <p:nvPr/>
        </p:nvSpPr>
        <p:spPr>
          <a:xfrm>
            <a:off x="914400" y="4297680"/>
            <a:ext cx="2743200" cy="1005840"/>
          </a:xfrm>
          <a:prstGeom prst="rect">
            <a:avLst/>
          </a:prstGeom>
          <a:noFill/>
          <a:ln/>
        </p:spPr>
        <p:txBody>
          <a:bodyPr wrap="square" lIns="0" tIns="0" rIns="0" bIns="0" rtlCol="0" anchor="ctr"/>
          <a:lstStyle/>
          <a:p>
            <a:pPr marL="0" indent="0">
              <a:buNone/>
            </a:pPr>
            <a:r>
              <a:rPr lang="en-US" sz="1600" b="1" dirty="0">
                <a:solidFill>
                  <a:schemeClr val="accent1"/>
                </a:solidFill>
              </a:rPr>
              <a:t>Dashboard (Power BI)</a:t>
            </a:r>
            <a:endParaRPr lang="en-US" sz="1600" dirty="0"/>
          </a:p>
        </p:txBody>
      </p:sp>
      <p:sp>
        <p:nvSpPr>
          <p:cNvPr id="13" name="Text 10"/>
          <p:cNvSpPr txBox="1"/>
          <p:nvPr/>
        </p:nvSpPr>
        <p:spPr>
          <a:xfrm>
            <a:off x="3657600" y="4297680"/>
            <a:ext cx="7680960" cy="1005840"/>
          </a:xfrm>
          <a:prstGeom prst="rect">
            <a:avLst/>
          </a:prstGeom>
          <a:noFill/>
          <a:ln/>
        </p:spPr>
        <p:txBody>
          <a:bodyPr wrap="square" lIns="0" tIns="0" rIns="0" bIns="0" rtlCol="0" anchor="ctr"/>
          <a:lstStyle/>
          <a:p>
            <a:pPr marL="0" indent="0">
              <a:buNone/>
            </a:pPr>
            <a:r>
              <a:rPr lang="en-US" sz="1400" dirty="0">
                <a:solidFill>
                  <a:schemeClr val="tx1"/>
                </a:solidFill>
              </a:rPr>
              <a:t>[isi link GitHub setelah push]</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21</a:t>
            </a:fld>
            <a:endParaRPr lang="en-US"/>
          </a:p>
        </p:txBody>
      </p:sp>
    </p:spTree>
  </p:cSld>
  <p:clrMapOvr>
    <a:masterClrMapping/>
  </p:clrMapOvr>
</p:sld>
</file>

<file path=ppt/theme/theme1.xml><?xml version="1.0" encoding="utf-8"?>
<a:theme xmlns:a="http://schemas.openxmlformats.org/drawingml/2006/main" name="Ecommerce View-Only">
  <a:themeElements>
    <a:clrScheme name="Ecommerce View-Only">
      <a:dk1>
        <a:srgbClr val="1A1A1A"/>
      </a:dk1>
      <a:lt1>
        <a:srgbClr val="FFFFFF"/>
      </a:lt1>
      <a:dk2>
        <a:srgbClr val="0D1B2E"/>
      </a:dk2>
      <a:lt2>
        <a:srgbClr val="F2EFE8"/>
      </a:lt2>
      <a:accent1>
        <a:srgbClr val="3D6EA5"/>
      </a:accent1>
      <a:accent2>
        <a:srgbClr val="D9822B"/>
      </a:accent2>
      <a:accent3>
        <a:srgbClr val="8FD8D3"/>
      </a:accent3>
      <a:accent4>
        <a:srgbClr val="8FA0B8"/>
      </a:accent4>
      <a:accent5>
        <a:srgbClr val="16233A"/>
      </a:accent5>
      <a:accent6>
        <a:srgbClr val="2A3B55"/>
      </a:accent6>
      <a:hlink>
        <a:srgbClr val="3D6EA5"/>
      </a:hlink>
      <a:folHlink>
        <a:srgbClr val="8FA0B8"/>
      </a:folHlink>
    </a:clrScheme>
    <a:fontScheme name="Ecommerce View-Only">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3536</Words>
  <Application>Microsoft Office PowerPoint</Application>
  <PresentationFormat>Widescreen</PresentationFormat>
  <Paragraphs>343</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Georgia</vt:lpstr>
      <vt:lpstr>Ecommerce View-Only</vt:lpstr>
      <vt:lpstr>Mengapa Sebagian Besar Pengunjung Tidak Membeli?</vt:lpstr>
      <vt:lpstr>Contents</vt:lpstr>
      <vt:lpstr>Frederick Rianto Putra</vt:lpstr>
      <vt:lpstr>Proyek yang Dikerjakan Selama Bootcamp</vt:lpstr>
      <vt:lpstr>Project Background</vt:lpstr>
      <vt:lpstr>Business Problem</vt:lpstr>
      <vt:lpstr>Analytical Approach</vt:lpstr>
      <vt:lpstr>Dataset Profiling</vt:lpstr>
      <vt:lpstr>Data Cleaning</vt:lpstr>
      <vt:lpstr>Uji Kualitas dan Sensitivitas Sesi</vt:lpstr>
      <vt:lpstr>Hanya 4,6% Sesi yang Membeli dari Keranjang</vt:lpstr>
      <vt:lpstr>Konversi Naik Seiring Kedalaman Browsing</vt:lpstr>
      <vt:lpstr>Pengunjung Baru, Satu Produk: Terbesar, Terlemah</vt:lpstr>
      <vt:lpstr>Produk Ekor Panjang Berkonversi Paling Rendah</vt:lpstr>
      <vt:lpstr>Harga dan Keranjang Ditinggalkan</vt:lpstr>
      <vt:lpstr>Waktu Berpengaruh Kecil, Tren Naik Bertahap</vt:lpstr>
      <vt:lpstr>Key Business Insights</vt:lpstr>
      <vt:lpstr>Dashboard Power BI</vt:lpstr>
      <vt:lpstr>Tiga Rekomendasi Prioritas Tertinggi</vt:lpstr>
      <vt:lpstr>Thank You.</vt:lpstr>
      <vt:lpstr>Link Support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Mengapa Banyak Pengunjung Hanya Melihat?</dc:title>
  <dc:creator>Frederick Rianto Putra</dc:creator>
  <cp:lastModifiedBy>frederick rianto putra</cp:lastModifiedBy>
  <cp:revision>4</cp:revision>
  <dcterms:created xsi:type="dcterms:W3CDTF">2026-10-24T04:31:58Z</dcterms:created>
  <dcterms:modified xsi:type="dcterms:W3CDTF">2026-10-24T06:21:05Z</dcterms:modified>
</cp:coreProperties>
</file>